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Required Clock Cycles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Pipeline</c:v>
                </c:pt>
              </c:strCache>
            </c:strRef>
          </c:tx>
          <c:spPr>
            <a:solidFill>
              <a:srgbClr val="00E5FF"/>
            </a:solidFill>
          </c:spPr>
          <c:cat>
            <c:strRef>
              <c:f>Sheet1!$A$2:$A$5</c:f>
              <c:strCache>
                <c:ptCount val="4"/>
                <c:pt idx="0">
                  <c:v>Demo</c:v>
                </c:pt>
                <c:pt idx="1">
                  <c:v>Arith</c:v>
                </c:pt>
                <c:pt idx="2">
                  <c:v>Logic</c:v>
                </c:pt>
                <c:pt idx="3">
                  <c:v>Jump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</c:v>
                </c:pt>
                <c:pt idx="1">
                  <c:v>11</c:v>
                </c:pt>
                <c:pt idx="2">
                  <c:v>14</c:v>
                </c:pt>
                <c:pt idx="3">
                  <c:v>16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 clk/inst</c:v>
                </c:pt>
              </c:strCache>
            </c:strRef>
          </c:tx>
          <c:spPr>
            <a:solidFill>
              <a:srgbClr val="D500F9"/>
            </a:solidFill>
          </c:spPr>
          <c:cat>
            <c:strRef>
              <c:f>Sheet1!$A$2:$A$5</c:f>
              <c:strCache>
                <c:ptCount val="4"/>
                <c:pt idx="0">
                  <c:v>Demo</c:v>
                </c:pt>
                <c:pt idx="1">
                  <c:v>Arith</c:v>
                </c:pt>
                <c:pt idx="2">
                  <c:v>Logic</c:v>
                </c:pt>
                <c:pt idx="3">
                  <c:v>Jump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</c:v>
                </c:pt>
                <c:pt idx="1">
                  <c:v>18</c:v>
                </c:pt>
                <c:pt idx="2">
                  <c:v>24</c:v>
                </c:pt>
                <c:pt idx="3">
                  <c:v>20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solidFill>
            <a:srgbClr val="E0E0E0"/>
          </a:solidFill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11880" y="0"/>
            <a:ext cx="45720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06240" y="10972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D500F9"/>
                </a:solidFill>
                <a:latin typeface="Arial"/>
              </a:rPr>
              <a:t>P R O J E C T  R E P O R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1645920"/>
            <a:ext cx="7315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800" b="1">
                <a:solidFill>
                  <a:srgbClr val="FFFFFF"/>
                </a:solidFill>
                <a:latin typeface="Arial"/>
              </a:rPr>
              <a:t>4-BIT RISC CPU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74320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>
                <a:solidFill>
                  <a:srgbClr val="00E5FF"/>
                </a:solidFill>
                <a:latin typeface="Arial"/>
              </a:rPr>
              <a:t>Design &amp; Implementation in Verilog HDL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3474720"/>
            <a:ext cx="7315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9E9E9E"/>
                </a:solidFill>
                <a:latin typeface="Arial"/>
              </a:rPr>
              <a:t>with 3-Stage Pipeline Architecture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4389120"/>
            <a:ext cx="1901952" cy="365760"/>
          </a:xfrm>
          <a:prstGeom prst="rect">
            <a:avLst/>
          </a:prstGeom>
          <a:solidFill>
            <a:srgbClr val="121212"/>
          </a:solidFill>
          <a:ln w="1905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00E5FF"/>
                </a:solidFill>
                <a:latin typeface="Arial"/>
              </a:rPr>
              <a:t>4-bit datapath</a:t>
            </a:r>
          </a:p>
        </p:txBody>
      </p:sp>
      <p:sp>
        <p:nvSpPr>
          <p:cNvPr id="9" name="Rectangle 8"/>
          <p:cNvSpPr/>
          <p:nvPr/>
        </p:nvSpPr>
        <p:spPr>
          <a:xfrm>
            <a:off x="6245352" y="4389120"/>
            <a:ext cx="2340864" cy="365760"/>
          </a:xfrm>
          <a:prstGeom prst="rect">
            <a:avLst/>
          </a:prstGeom>
          <a:solidFill>
            <a:srgbClr val="121212"/>
          </a:solidFill>
          <a:ln w="1905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00E5FF"/>
                </a:solidFill>
                <a:latin typeface="Arial"/>
              </a:rPr>
              <a:t>12-bit instruction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23376" y="4389120"/>
            <a:ext cx="1572767" cy="365760"/>
          </a:xfrm>
          <a:prstGeom prst="rect">
            <a:avLst/>
          </a:prstGeom>
          <a:solidFill>
            <a:srgbClr val="121212"/>
          </a:solidFill>
          <a:ln w="1905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00E5FF"/>
                </a:solidFill>
                <a:latin typeface="Arial"/>
              </a:rPr>
              <a:t>4 registers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33303" y="4389120"/>
            <a:ext cx="1682495" cy="365760"/>
          </a:xfrm>
          <a:prstGeom prst="rect">
            <a:avLst/>
          </a:prstGeom>
          <a:solidFill>
            <a:srgbClr val="121212"/>
          </a:solidFill>
          <a:ln w="1905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00E5FF"/>
                </a:solidFill>
                <a:latin typeface="Arial"/>
              </a:rPr>
              <a:t>IF / ID / 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2801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9E9E9E"/>
                </a:solidFill>
                <a:latin typeface="Arial"/>
              </a:rPr>
              <a:t>STUDENT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Bui Huu Loi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920239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9E9E9E"/>
                </a:solidFill>
                <a:latin typeface="Arial"/>
              </a:rPr>
              <a:t>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148839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SE196720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9E9E9E"/>
                </a:solidFill>
                <a:latin typeface="Arial"/>
              </a:rPr>
              <a:t>UNIVERSITY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78892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FPT University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2004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9E9E9E"/>
                </a:solidFill>
                <a:latin typeface="Arial"/>
              </a:rPr>
              <a:t>MAJOR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4290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IC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8404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9E9E9E"/>
                </a:solidFill>
                <a:latin typeface="Arial"/>
              </a:rPr>
              <a:t>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0690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Vivado 2026.1, Verilog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4805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9E9E9E"/>
                </a:solidFill>
                <a:latin typeface="Arial"/>
              </a:rPr>
              <a:t>DEVICE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70916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Artix-7 xc7a35tcpg236-1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1206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9E9E9E"/>
                </a:solidFill>
                <a:latin typeface="Arial"/>
              </a:rPr>
              <a:t>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34924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10/2026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54864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91672" cy="18288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E9E9E"/>
                </a:solidFill>
                <a:latin typeface="Arial"/>
              </a:rPr>
              <a:t>Bui Huu Loi · SE196720 · 4-Bit RISC CPU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53796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00E5FF"/>
                </a:solidFill>
                <a:latin typeface="Arial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5303520" cy="13716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91440" cy="13716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737360"/>
            <a:ext cx="731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9E9E9E"/>
                </a:solidFill>
                <a:latin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737360"/>
            <a:ext cx="3931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Introduction &amp; Specs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194560"/>
            <a:ext cx="3931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9E9E9E"/>
                </a:solidFill>
                <a:latin typeface="Arial"/>
              </a:rPr>
              <a:t>Objectives, technical specifications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59" y="1463040"/>
            <a:ext cx="5303520" cy="13716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59" y="1463040"/>
            <a:ext cx="91440" cy="1371600"/>
          </a:xfrm>
          <a:prstGeom prst="rect">
            <a:avLst/>
          </a:prstGeom>
          <a:solidFill>
            <a:srgbClr val="D50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79" y="1737360"/>
            <a:ext cx="731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9E9E9E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1737360"/>
            <a:ext cx="3931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Architecture &amp;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2194560"/>
            <a:ext cx="3931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9E9E9E"/>
                </a:solidFill>
                <a:latin typeface="Arial"/>
              </a:rPr>
              <a:t>Load/store, Harvard, IF/ID/EX, hazards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108960"/>
            <a:ext cx="5303520" cy="13716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108960"/>
            <a:ext cx="91440" cy="13716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383280"/>
            <a:ext cx="731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9E9E9E"/>
                </a:solidFill>
                <a:latin typeface="Arial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3383280"/>
            <a:ext cx="3931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Instruction Set (ISA)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3840480"/>
            <a:ext cx="3931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9E9E9E"/>
                </a:solidFill>
                <a:latin typeface="Arial"/>
              </a:rPr>
              <a:t>12-bit format, 12 instructions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59" y="3108960"/>
            <a:ext cx="5303520" cy="13716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59" y="3108960"/>
            <a:ext cx="91440" cy="1371600"/>
          </a:xfrm>
          <a:prstGeom prst="rect">
            <a:avLst/>
          </a:prstGeom>
          <a:solidFill>
            <a:srgbClr val="D50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79" y="3383280"/>
            <a:ext cx="731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9E9E9E"/>
                </a:solidFill>
                <a:latin typeface="Arial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3383280"/>
            <a:ext cx="3931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Datapath &amp; Control Unit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3840480"/>
            <a:ext cx="3931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9E9E9E"/>
                </a:solidFill>
                <a:latin typeface="Arial"/>
              </a:rPr>
              <a:t>ALU, flags, decoder, branch unit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754880"/>
            <a:ext cx="5303520" cy="13716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754880"/>
            <a:ext cx="91440" cy="13716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59" y="5029200"/>
            <a:ext cx="731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9E9E9E"/>
                </a:solidFill>
                <a:latin typeface="Arial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5029200"/>
            <a:ext cx="3931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Testing &amp; Simulation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5486400"/>
            <a:ext cx="3931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9E9E9E"/>
                </a:solidFill>
                <a:latin typeface="Arial"/>
              </a:rPr>
              <a:t>Testbench, results, waveform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59" y="4754880"/>
            <a:ext cx="5303520" cy="13716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09359" y="4754880"/>
            <a:ext cx="91440" cy="1371600"/>
          </a:xfrm>
          <a:prstGeom prst="rect">
            <a:avLst/>
          </a:prstGeom>
          <a:solidFill>
            <a:srgbClr val="D50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79" y="5029200"/>
            <a:ext cx="731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9E9E9E"/>
                </a:solidFill>
                <a:latin typeface="Arial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5029200"/>
            <a:ext cx="3931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Synthesis &amp; Conclusion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5486400"/>
            <a:ext cx="3931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9E9E9E"/>
                </a:solidFill>
                <a:latin typeface="Arial"/>
              </a:rPr>
              <a:t>Timing, performance,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54864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INTRODUCTION &amp;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91672" cy="18288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E9E9E"/>
                </a:solidFill>
                <a:latin typeface="Arial"/>
              </a:rPr>
              <a:t>Bui Huu Loi · SE196720 · 4-Bit RISC CPU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53796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00E5FF"/>
                </a:solidFill>
                <a:latin typeface="Arial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394960" cy="18288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73152" cy="18288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50876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Datapath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103120"/>
            <a:ext cx="50292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0E0E0"/>
                </a:solidFill>
                <a:latin typeface="Arial"/>
              </a:rPr>
              <a:t>Registers, ALU, memory, MUX, buses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0E0E0"/>
                </a:solidFill>
                <a:latin typeface="Arial"/>
              </a:rPr>
              <a:t>→ Data storage and processing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394960" cy="18288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73152" cy="1828800"/>
          </a:xfrm>
          <a:prstGeom prst="rect">
            <a:avLst/>
          </a:prstGeom>
          <a:solidFill>
            <a:srgbClr val="D50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50876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Control Path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03120"/>
            <a:ext cx="50292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0E0E0"/>
                </a:solidFill>
                <a:latin typeface="Arial"/>
              </a:rPr>
              <a:t>Instruction decoding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0E0E0"/>
                </a:solidFill>
                <a:latin typeface="Arial"/>
              </a:rPr>
              <a:t>→ Generates select/enable/write signals to control the datapath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5661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00E5FF"/>
                </a:solidFill>
                <a:latin typeface="Arial"/>
              </a:rPr>
              <a:t>Project Objectives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114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D500F9"/>
                </a:solidFill>
                <a:latin typeface="Arial"/>
              </a:rPr>
              <a:t>►  </a:t>
            </a:r>
            <a:r>
              <a:rPr sz="1700" b="0">
                <a:solidFill>
                  <a:srgbClr val="E0E0E0"/>
                </a:solidFill>
                <a:latin typeface="Arial"/>
              </a:rPr>
              <a:t>4-bit ALU: ADD, SUB, AND, OR, XOR, NOT + Zero, Carry flags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D500F9"/>
                </a:solidFill>
                <a:latin typeface="Arial"/>
              </a:rPr>
              <a:t>►  </a:t>
            </a:r>
            <a:r>
              <a:rPr sz="1700" b="0">
                <a:solidFill>
                  <a:srgbClr val="E0E0E0"/>
                </a:solidFill>
                <a:latin typeface="Arial"/>
              </a:rPr>
              <a:t>Register file (4 registers), Program Counter, Instruction/Data memory, MUXes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D500F9"/>
                </a:solidFill>
                <a:latin typeface="Arial"/>
              </a:rPr>
              <a:t>►  </a:t>
            </a:r>
            <a:r>
              <a:rPr sz="1700" b="0">
                <a:solidFill>
                  <a:srgbClr val="E0E0E0"/>
                </a:solidFill>
                <a:latin typeface="Arial"/>
              </a:rPr>
              <a:t>Hardwired control unit (instruction decoder + branch unit)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D500F9"/>
                </a:solidFill>
                <a:latin typeface="Arial"/>
              </a:rPr>
              <a:t>►  </a:t>
            </a:r>
            <a:r>
              <a:rPr sz="1700" b="0">
                <a:solidFill>
                  <a:srgbClr val="E0E0E0"/>
                </a:solidFill>
                <a:latin typeface="Arial"/>
              </a:rPr>
              <a:t>3-stage pipeline (IF / ID / EX) with flush mechanism for jumps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D500F9"/>
                </a:solidFill>
                <a:latin typeface="Arial"/>
              </a:rPr>
              <a:t>►  </a:t>
            </a:r>
            <a:r>
              <a:rPr sz="1700" b="0">
                <a:solidFill>
                  <a:srgbClr val="E0E0E0"/>
                </a:solidFill>
                <a:latin typeface="Arial"/>
              </a:rPr>
              <a:t>Integration, running test programs, simulation, and synthesis on Vivado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54864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TECHNICAL SPECIFICATIONS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91672" cy="18288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E9E9E"/>
                </a:solidFill>
                <a:latin typeface="Arial"/>
              </a:rPr>
              <a:t>Bui Huu Loi · SE196720 · 4-Bit RISC CPU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53796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00E5FF"/>
                </a:solidFill>
                <a:latin typeface="Arial"/>
              </a:rPr>
              <a:t>04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4873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321040"/>
              </a:tblGrid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E5FF"/>
                          </a:solidFill>
                          <a:latin typeface="Arial"/>
                        </a:rPr>
                        <a:t>Parameter</a:t>
                      </a:r>
                    </a:p>
                  </a:txBody>
                  <a:tcPr anchor="ctr" marL="91440" marR="91440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0E5FF"/>
                          </a:solidFill>
                          <a:latin typeface="Arial"/>
                        </a:rPr>
                        <a:t>Specification</a:t>
                      </a:r>
                    </a:p>
                  </a:txBody>
                  <a:tcPr anchor="ctr" marL="91440" marR="91440">
                    <a:solidFill>
                      <a:srgbClr val="121212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Arial"/>
                        </a:rPr>
                        <a:t>Architecture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0E0E0"/>
                          </a:solidFill>
                          <a:latin typeface="Arial"/>
                        </a:rPr>
                        <a:t>RISC, load/store, Harvard memory organization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Arial"/>
                        </a:rPr>
                        <a:t>Datapath Width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0E0E0"/>
                          </a:solidFill>
                          <a:latin typeface="Arial"/>
                        </a:rPr>
                        <a:t>4-bit (registers, ALU operands, data memory)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Arial"/>
                        </a:rPr>
                        <a:t>Register File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0E0E0"/>
                          </a:solidFill>
                          <a:latin typeface="Arial"/>
                        </a:rPr>
                        <a:t>R0–R3, 4-bit each; 2 read ports, 1 write port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Arial"/>
                        </a:rPr>
                        <a:t>Instruction Word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0E0E0"/>
                          </a:solidFill>
                          <a:latin typeface="Arial"/>
                        </a:rPr>
                        <a:t>12-bit: opcode (4) | Rd (2) | Rs (2) | imm/addr (4)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Arial"/>
                        </a:rPr>
                        <a:t>Instruction Memory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0E0E0"/>
                          </a:solidFill>
                          <a:latin typeface="Arial"/>
                        </a:rPr>
                        <a:t>16 words × 12-bit (ROM, initialized via .mem)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Arial"/>
                        </a:rPr>
                        <a:t>Data Memory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0E0E0"/>
                          </a:solidFill>
                          <a:latin typeface="Arial"/>
                        </a:rPr>
                        <a:t>16 words × 4-bit (RAM)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Arial"/>
                        </a:rPr>
                        <a:t>Program Counter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0E0E0"/>
                          </a:solidFill>
                          <a:latin typeface="Arial"/>
                        </a:rPr>
                        <a:t>4-bit (16 addresses), wraps from 15 to 0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Arial"/>
                        </a:rPr>
                        <a:t>Instruction Set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0E0E0"/>
                          </a:solidFill>
                          <a:latin typeface="Arial"/>
                        </a:rPr>
                        <a:t>12 instructions; opcodes 1100–1111 reserved (act as NOP)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Arial"/>
                        </a:rPr>
                        <a:t>Pipeline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0E0E0"/>
                          </a:solidFill>
                          <a:latin typeface="Arial"/>
                        </a:rPr>
                        <a:t>3 stages: IF (fetch), ID (decode), EX (execute/mem/write-back)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Arial"/>
                        </a:rPr>
                        <a:t>Flags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0E0E0"/>
                          </a:solidFill>
                          <a:latin typeface="Arial"/>
                        </a:rPr>
                        <a:t>Zero (result = 0000); Carry (carry-out for ADD, no-borrow for SUB)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Arial"/>
                        </a:rPr>
                        <a:t>Control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0E0E0"/>
                          </a:solidFill>
                          <a:latin typeface="Arial"/>
                        </a:rPr>
                        <a:t>Hardwired: combinational decoder + branch unit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Arial"/>
                        </a:rPr>
                        <a:t>Implementation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0E0E0"/>
                          </a:solidFill>
                          <a:latin typeface="Arial"/>
                        </a:rPr>
                        <a:t>Verilog-2005, Vivado 2026.1 (XSim), Artix-7 xc7a35tcpg236-1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54864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ARCHITECTURE: LOAD/STORE &amp; HARVARD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91672" cy="18288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E9E9E"/>
                </a:solidFill>
                <a:latin typeface="Arial"/>
              </a:rPr>
              <a:t>Bui Huu Loi · SE196720 · 4-Bit RISC CPU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53796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00E5FF"/>
                </a:solidFill>
                <a:latin typeface="Arial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440680" cy="292608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73152" cy="292608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508760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Load/Store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103120"/>
            <a:ext cx="50749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E0E0E0"/>
                </a:solidFill>
                <a:latin typeface="Arial"/>
              </a:rPr>
              <a:t>• Only LOAD and STORE access memory; ALU does not interact directly with memory.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E0E0E0"/>
                </a:solidFill>
                <a:latin typeface="Arial"/>
              </a:rPr>
              <a:t>• Two-address format: Rd = Rd op Rs → saves space for a 4-bit immediate.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E0E0E0"/>
                </a:solidFill>
                <a:latin typeface="Arial"/>
              </a:rPr>
              <a:t>• Fixed 12-bit instruction length → simplifies decoding and pipelining.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371600"/>
            <a:ext cx="5440680" cy="292608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371600"/>
            <a:ext cx="73152" cy="2926080"/>
          </a:xfrm>
          <a:prstGeom prst="rect">
            <a:avLst/>
          </a:prstGeom>
          <a:solidFill>
            <a:srgbClr val="D50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508760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Harvard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103120"/>
            <a:ext cx="50749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E0E0E0"/>
                </a:solidFill>
                <a:latin typeface="Arial"/>
              </a:rPr>
              <a:t>• Separate instruction and data memories.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E0E0E0"/>
                </a:solidFill>
                <a:latin typeface="Arial"/>
              </a:rPr>
              <a:t>• Same cycle: IF stage reads instruction while EX stage accesses data → no structural hazards.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663440"/>
            <a:ext cx="2606040" cy="146304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809744"/>
            <a:ext cx="2240280" cy="7315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>
                <a:solidFill>
                  <a:srgbClr val="00E5FF"/>
                </a:solidFill>
                <a:latin typeface="Arial"/>
              </a:rPr>
              <a:t>4-bit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541264"/>
            <a:ext cx="2240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9E9E9E"/>
                </a:solidFill>
                <a:latin typeface="Arial"/>
              </a:rPr>
              <a:t>Datapath Width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4992" y="4663440"/>
            <a:ext cx="2606040" cy="146304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47872" y="4809744"/>
            <a:ext cx="2240280" cy="7315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>
                <a:solidFill>
                  <a:srgbClr val="D500F9"/>
                </a:solidFill>
                <a:latin typeface="Arial"/>
              </a:rPr>
              <a:t>12-bit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5541264"/>
            <a:ext cx="2240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9E9E9E"/>
                </a:solidFill>
                <a:latin typeface="Arial"/>
              </a:rPr>
              <a:t>Instruction Length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1344" y="4663440"/>
            <a:ext cx="2606040" cy="146304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4809744"/>
            <a:ext cx="2240280" cy="7315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>
                <a:solidFill>
                  <a:srgbClr val="00E5FF"/>
                </a:solidFill>
                <a:latin typeface="Arial"/>
              </a:rPr>
              <a:t>16 × 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5541264"/>
            <a:ext cx="2240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9E9E9E"/>
                </a:solidFill>
                <a:latin typeface="Arial"/>
              </a:rPr>
              <a:t>Instruction Memory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97696" y="4663440"/>
            <a:ext cx="2606040" cy="146304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0576" y="4809744"/>
            <a:ext cx="2240280" cy="7315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>
                <a:solidFill>
                  <a:srgbClr val="D500F9"/>
                </a:solidFill>
                <a:latin typeface="Arial"/>
              </a:rPr>
              <a:t>16 ×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0576" y="5541264"/>
            <a:ext cx="2240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9E9E9E"/>
                </a:solidFill>
                <a:latin typeface="Arial"/>
              </a:rPr>
              <a:t>Data Memory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54864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3-STAGE PIPELINE: IF – ID – EX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91672" cy="18288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E9E9E"/>
                </a:solidFill>
                <a:latin typeface="Arial"/>
              </a:rPr>
              <a:t>Bui Huu Loi · SE196720 · 4-Bit RISC CPU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53796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00E5FF"/>
                </a:solidFill>
                <a:latin typeface="Arial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3566160" cy="201168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73152" cy="201168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417319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IF – Fetch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011680"/>
            <a:ext cx="3200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0E0E0"/>
                </a:solidFill>
                <a:latin typeface="Arial"/>
              </a:rPr>
              <a:t>Fetch instruction at PC into IF/ID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E0E0E0"/>
                </a:solidFill>
                <a:latin typeface="Arial"/>
              </a:rPr>
              <a:t>Calculate PC + 1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E0E0E0"/>
                </a:solidFill>
                <a:latin typeface="Arial"/>
              </a:rPr>
              <a:t>PC, PC MUX, IMEM, IF/ID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79" y="1280160"/>
            <a:ext cx="3566160" cy="201168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79" y="1280160"/>
            <a:ext cx="73152" cy="2011680"/>
          </a:xfrm>
          <a:prstGeom prst="rect">
            <a:avLst/>
          </a:prstGeom>
          <a:solidFill>
            <a:srgbClr val="D50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1999" y="1417319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ID – Decode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2011680"/>
            <a:ext cx="3200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0E0E0"/>
                </a:solidFill>
                <a:latin typeface="Arial"/>
              </a:rPr>
              <a:t>Decode opcode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E0E0E0"/>
                </a:solidFill>
                <a:latin typeface="Arial"/>
              </a:rPr>
              <a:t>Generate control signals, save to ID/EX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E0E0E0"/>
                </a:solidFill>
                <a:latin typeface="Arial"/>
              </a:rPr>
              <a:t>Decoder, ID/EX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19" y="1280160"/>
            <a:ext cx="3566160" cy="201168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19" y="1280160"/>
            <a:ext cx="73152" cy="2011680"/>
          </a:xfrm>
          <a:prstGeom prst="rect">
            <a:avLst/>
          </a:prstGeom>
          <a:solidFill>
            <a:srgbClr val="FFE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417319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EX – Execute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011680"/>
            <a:ext cx="3200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0E0E0"/>
                </a:solidFill>
                <a:latin typeface="Arial"/>
              </a:rPr>
              <a:t>Read Rd/Rs, ALU op, memory access, write back to Rd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E0E0E0"/>
                </a:solidFill>
                <a:latin typeface="Arial"/>
              </a:rPr>
              <a:t>Update flags, decide branch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E0E0E0"/>
                </a:solidFill>
                <a:latin typeface="Arial"/>
              </a:rPr>
              <a:t>RF, ALU, FLAGS, DMEM, WB MUX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4747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Overlapping instructions (1 instruction completes per clock cycle)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840480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9E9E9E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3840480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9E9E9E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3840480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9E9E9E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3840480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9E9E9E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3840480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9E9E9E"/>
                </a:solidFill>
                <a:latin typeface="Ari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3840480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9E9E9E"/>
                </a:solidFill>
                <a:latin typeface="Arial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160520"/>
            <a:ext cx="731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I1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71600" y="4160520"/>
            <a:ext cx="685800" cy="384048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121212"/>
                </a:solidFill>
                <a:latin typeface="Arial"/>
              </a:rPr>
              <a:t>IF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03120" y="4160520"/>
            <a:ext cx="685800" cy="384048"/>
          </a:xfrm>
          <a:prstGeom prst="rect">
            <a:avLst/>
          </a:prstGeom>
          <a:solidFill>
            <a:srgbClr val="D50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121212"/>
                </a:solidFill>
                <a:latin typeface="Arial"/>
              </a:rPr>
              <a:t>ID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34640" y="4160520"/>
            <a:ext cx="685800" cy="384048"/>
          </a:xfrm>
          <a:prstGeom prst="rect">
            <a:avLst/>
          </a:prstGeom>
          <a:solidFill>
            <a:srgbClr val="FFE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121212"/>
                </a:solidFill>
                <a:latin typeface="Arial"/>
              </a:rPr>
              <a:t>EX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617720"/>
            <a:ext cx="731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I2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03120" y="4617720"/>
            <a:ext cx="685800" cy="384048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121212"/>
                </a:solidFill>
                <a:latin typeface="Arial"/>
              </a:rPr>
              <a:t>IF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4617720"/>
            <a:ext cx="685800" cy="384048"/>
          </a:xfrm>
          <a:prstGeom prst="rect">
            <a:avLst/>
          </a:prstGeom>
          <a:solidFill>
            <a:srgbClr val="D50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121212"/>
                </a:solidFill>
                <a:latin typeface="Arial"/>
              </a:rPr>
              <a:t>ID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66160" y="4617720"/>
            <a:ext cx="685800" cy="384048"/>
          </a:xfrm>
          <a:prstGeom prst="rect">
            <a:avLst/>
          </a:prstGeom>
          <a:solidFill>
            <a:srgbClr val="FFE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121212"/>
                </a:solidFill>
                <a:latin typeface="Arial"/>
              </a:rPr>
              <a:t>EX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074920"/>
            <a:ext cx="731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I3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34640" y="5074920"/>
            <a:ext cx="685800" cy="384048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121212"/>
                </a:solidFill>
                <a:latin typeface="Arial"/>
              </a:rPr>
              <a:t>IF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66160" y="5074920"/>
            <a:ext cx="685800" cy="384048"/>
          </a:xfrm>
          <a:prstGeom prst="rect">
            <a:avLst/>
          </a:prstGeom>
          <a:solidFill>
            <a:srgbClr val="D50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121212"/>
                </a:solidFill>
                <a:latin typeface="Arial"/>
              </a:rPr>
              <a:t>ID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97680" y="5074920"/>
            <a:ext cx="685800" cy="384048"/>
          </a:xfrm>
          <a:prstGeom prst="rect">
            <a:avLst/>
          </a:prstGeom>
          <a:solidFill>
            <a:srgbClr val="FFE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121212"/>
                </a:solidFill>
                <a:latin typeface="Arial"/>
              </a:rPr>
              <a:t>EX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532120"/>
            <a:ext cx="731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I4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66160" y="5532120"/>
            <a:ext cx="685800" cy="384048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121212"/>
                </a:solidFill>
                <a:latin typeface="Arial"/>
              </a:rPr>
              <a:t>IF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97680" y="5532120"/>
            <a:ext cx="685800" cy="384048"/>
          </a:xfrm>
          <a:prstGeom prst="rect">
            <a:avLst/>
          </a:prstGeom>
          <a:solidFill>
            <a:srgbClr val="D50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121212"/>
                </a:solidFill>
                <a:latin typeface="Arial"/>
              </a:rPr>
              <a:t>ID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0" y="5532120"/>
            <a:ext cx="685800" cy="384048"/>
          </a:xfrm>
          <a:prstGeom prst="rect">
            <a:avLst/>
          </a:prstGeom>
          <a:solidFill>
            <a:srgbClr val="FFE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121212"/>
                </a:solidFill>
                <a:latin typeface="Arial"/>
              </a:rPr>
              <a:t>EX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3566160"/>
            <a:ext cx="5212080" cy="118872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0" y="3685032"/>
            <a:ext cx="4846320" cy="5943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>
                <a:solidFill>
                  <a:srgbClr val="00E5FF"/>
                </a:solidFill>
                <a:latin typeface="Arial"/>
              </a:rPr>
              <a:t>6 clocks instead of 12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4279392"/>
            <a:ext cx="4846320" cy="3566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9E9E9E"/>
                </a:solidFill>
                <a:latin typeface="Arial"/>
              </a:rPr>
              <a:t>4 instructions: pipelined vs non-pipelined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4937760"/>
            <a:ext cx="5212080" cy="118872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0" y="5056632"/>
            <a:ext cx="4846320" cy="5943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>
                <a:solidFill>
                  <a:srgbClr val="D500F9"/>
                </a:solidFill>
                <a:latin typeface="Arial"/>
              </a:rPr>
              <a:t>N + 2 + 2J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0" y="5650992"/>
            <a:ext cx="4846320" cy="3566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9E9E9E"/>
                </a:solidFill>
                <a:latin typeface="Arial"/>
              </a:rPr>
              <a:t>Clock cycles for N instructions with J taken jumps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54864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HAZARD HANDLING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91672" cy="18288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E9E9E"/>
                </a:solidFill>
                <a:latin typeface="Arial"/>
              </a:rPr>
              <a:t>Bui Huu Loi · SE196720 · 4-Bit RISC CPU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53796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00E5FF"/>
                </a:solidFill>
                <a:latin typeface="Arial"/>
              </a:rPr>
              <a:t>07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3657600"/>
                <a:gridCol w="5669280"/>
              </a:tblGrid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0E5FF"/>
                          </a:solidFill>
                          <a:latin typeface="Arial"/>
                        </a:rPr>
                        <a:t>Hazard Type</a:t>
                      </a:r>
                    </a:p>
                  </a:txBody>
                  <a:tcPr anchor="ctr" marL="91440" marR="91440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0E5FF"/>
                          </a:solidFill>
                          <a:latin typeface="Arial"/>
                        </a:rPr>
                        <a:t>Risk</a:t>
                      </a:r>
                    </a:p>
                  </a:txBody>
                  <a:tcPr anchor="ctr" marL="91440" marR="91440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0E5FF"/>
                          </a:solidFill>
                          <a:latin typeface="Arial"/>
                        </a:rPr>
                        <a:t>Solution</a:t>
                      </a:r>
                    </a:p>
                  </a:txBody>
                  <a:tcPr anchor="ctr" marL="91440" marR="91440">
                    <a:solidFill>
                      <a:srgbClr val="121212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Arial"/>
                        </a:rPr>
                        <a:t>Structural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0E0E0"/>
                          </a:solidFill>
                          <a:latin typeface="Arial"/>
                        </a:rPr>
                        <a:t>Multiple stages need the same hardware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0E0E0"/>
                          </a:solidFill>
                          <a:latin typeface="Arial"/>
                        </a:rPr>
                        <a:t>Separate memories (Harvard); each resource assigned to one stage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Arial"/>
                        </a:rPr>
                        <a:t>Data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0E0E0"/>
                          </a:solidFill>
                          <a:latin typeface="Arial"/>
                        </a:rPr>
                        <a:t>Instruction reads register before previous write completes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0E0E0"/>
                          </a:solidFill>
                          <a:latin typeface="Arial"/>
                        </a:rPr>
                        <a:t>Read registers in EX (1 clock after previous) → always gets latest value, no forwarding/stall needed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Arial"/>
                        </a:rPr>
                        <a:t>Control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0E0E0"/>
                          </a:solidFill>
                          <a:latin typeface="Arial"/>
                        </a:rPr>
                        <a:t>Fetched instructions are incorrect after a jump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0E0E0"/>
                          </a:solidFill>
                          <a:latin typeface="Arial"/>
                        </a:rPr>
                        <a:t>Jump decided in EX; flushes IF/ID and ID/EX to NOP (2 bubbles)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4480560"/>
            <a:ext cx="5440680" cy="178308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4480560"/>
            <a:ext cx="73152" cy="178308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4617720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Data Hazard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5212080"/>
            <a:ext cx="5074920" cy="9601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0E0E0"/>
                </a:solidFill>
                <a:latin typeface="Arial"/>
              </a:rPr>
              <a:t>LDI R1,5 then ADD R1,R2: LDI writes R1 at the end of EX; next cycle ADD in EX reads 5. JZ right after SUB also sees the updated Zero flag.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4480560"/>
            <a:ext cx="5440680" cy="178308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4480560"/>
            <a:ext cx="73152" cy="1783080"/>
          </a:xfrm>
          <a:prstGeom prst="rect">
            <a:avLst/>
          </a:prstGeom>
          <a:solidFill>
            <a:srgbClr val="D50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4617720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Control Hazard Example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5212080"/>
            <a:ext cx="5074920" cy="9601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0E0E0"/>
                </a:solidFill>
                <a:latin typeface="Arial"/>
              </a:rPr>
              <a:t>JMP taken in EX: pc_sel = flush = 1. On clock edge, PC loads jump address and two pipeline registers are cleared → costs 2 clocks.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54864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INSTRUCTION SET: 12-BIT FORMAT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91672" cy="18288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E9E9E"/>
                </a:solidFill>
                <a:latin typeface="Arial"/>
              </a:rPr>
              <a:t>Bui Huu Loi · SE196720 · 4-Bit RISC CPU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53796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00E5FF"/>
                </a:solidFill>
                <a:latin typeface="Arial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280160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9E9E9E"/>
                </a:solidFill>
                <a:latin typeface="Arial"/>
              </a:rPr>
              <a:t>[11:8]</a:t>
            </a:r>
          </a:p>
        </p:txBody>
      </p:sp>
      <p:sp>
        <p:nvSpPr>
          <p:cNvPr id="8" name="Rectangle 7"/>
          <p:cNvSpPr/>
          <p:nvPr/>
        </p:nvSpPr>
        <p:spPr>
          <a:xfrm>
            <a:off x="1600200" y="1600200"/>
            <a:ext cx="3246120" cy="8229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000" b="1">
                <a:solidFill>
                  <a:srgbClr val="00E5FF"/>
                </a:solidFill>
                <a:latin typeface="Arial"/>
              </a:rPr>
              <a:t>opcode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0200" y="2377440"/>
            <a:ext cx="3246120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00200" y="2560320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9E9E9E"/>
                </a:solidFill>
                <a:latin typeface="Arial"/>
              </a:rPr>
              <a:t>4 bit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28016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9E9E9E"/>
                </a:solidFill>
                <a:latin typeface="Arial"/>
              </a:rPr>
              <a:t>[7:6]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92040" y="1600200"/>
            <a:ext cx="1600200" cy="8229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000" b="1">
                <a:solidFill>
                  <a:srgbClr val="D500F9"/>
                </a:solidFill>
                <a:latin typeface="Arial"/>
              </a:rPr>
              <a:t>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92040" y="2377440"/>
            <a:ext cx="1600200" cy="45720"/>
          </a:xfrm>
          <a:prstGeom prst="rect">
            <a:avLst/>
          </a:prstGeom>
          <a:solidFill>
            <a:srgbClr val="D50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256032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9E9E9E"/>
                </a:solidFill>
                <a:latin typeface="Arial"/>
              </a:rPr>
              <a:t>2 bit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128016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9E9E9E"/>
                </a:solidFill>
                <a:latin typeface="Arial"/>
              </a:rPr>
              <a:t>[5:4]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37959" y="1600200"/>
            <a:ext cx="1600200" cy="8229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000" b="1">
                <a:solidFill>
                  <a:srgbClr val="FFEA00"/>
                </a:solidFill>
                <a:latin typeface="Arial"/>
              </a:rPr>
              <a:t>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37959" y="2377440"/>
            <a:ext cx="1600200" cy="45720"/>
          </a:xfrm>
          <a:prstGeom prst="rect">
            <a:avLst/>
          </a:prstGeom>
          <a:solidFill>
            <a:srgbClr val="FFE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59" y="256032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9E9E9E"/>
                </a:solidFill>
                <a:latin typeface="Arial"/>
              </a:rPr>
              <a:t>2 bit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1280160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9E9E9E"/>
                </a:solidFill>
                <a:latin typeface="Arial"/>
              </a:rPr>
              <a:t>[3:0]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83879" y="1600200"/>
            <a:ext cx="3246120" cy="8229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000" b="1">
                <a:solidFill>
                  <a:srgbClr val="9E9E9E"/>
                </a:solidFill>
                <a:latin typeface="Arial"/>
              </a:rPr>
              <a:t>imm / addr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3879" y="2377440"/>
            <a:ext cx="3246120" cy="45720"/>
          </a:xfrm>
          <a:prstGeom prst="rect">
            <a:avLst/>
          </a:prstGeom>
          <a:solidFill>
            <a:srgbClr val="9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79" y="2560320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9E9E9E"/>
                </a:solidFill>
                <a:latin typeface="Arial"/>
              </a:rPr>
              <a:t>4 bit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2926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Register Codes:  R0 = 00   ·   R1 = 01   ·   R2 = 10   ·   R3 = 11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48640" y="347472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377440"/>
                <a:gridCol w="1463040"/>
                <a:gridCol w="1188720"/>
                <a:gridCol w="1188720"/>
                <a:gridCol w="1737360"/>
                <a:gridCol w="1645920"/>
              </a:tblGrid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700" b="1">
                          <a:solidFill>
                            <a:srgbClr val="00E5FF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 marL="91440" marR="91440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00E5FF"/>
                          </a:solidFill>
                          <a:latin typeface="Arial"/>
                        </a:rPr>
                        <a:t>Instruction</a:t>
                      </a:r>
                    </a:p>
                  </a:txBody>
                  <a:tcPr anchor="ctr" marL="91440" marR="91440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00E5FF"/>
                          </a:solidFill>
                          <a:latin typeface="Arial"/>
                        </a:rPr>
                        <a:t>opcode</a:t>
                      </a:r>
                    </a:p>
                  </a:txBody>
                  <a:tcPr anchor="ctr" marL="91440" marR="91440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00E5FF"/>
                          </a:solidFill>
                          <a:latin typeface="Arial"/>
                        </a:rPr>
                        <a:t>Rd</a:t>
                      </a:r>
                    </a:p>
                  </a:txBody>
                  <a:tcPr anchor="ctr" marL="91440" marR="91440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00E5FF"/>
                          </a:solidFill>
                          <a:latin typeface="Arial"/>
                        </a:rPr>
                        <a:t>Rs</a:t>
                      </a:r>
                    </a:p>
                  </a:txBody>
                  <a:tcPr anchor="ctr" marL="91440" marR="91440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00E5FF"/>
                          </a:solidFill>
                          <a:latin typeface="Arial"/>
                        </a:rPr>
                        <a:t>imm/addr</a:t>
                      </a:r>
                    </a:p>
                  </a:txBody>
                  <a:tcPr anchor="ctr" marL="91440" marR="91440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00E5FF"/>
                          </a:solidFill>
                          <a:latin typeface="Arial"/>
                        </a:rPr>
                        <a:t>Hex</a:t>
                      </a:r>
                    </a:p>
                  </a:txBody>
                  <a:tcPr anchor="ctr" marL="91440" marR="91440">
                    <a:solidFill>
                      <a:srgbClr val="121212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FFFFFF"/>
                          </a:solidFill>
                          <a:latin typeface="Arial"/>
                        </a:rPr>
                        <a:t>R-type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E0E0E0"/>
                          </a:solidFill>
                          <a:latin typeface="Arial"/>
                        </a:rPr>
                        <a:t>ADD R1, R2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E0E0E0"/>
                          </a:solidFill>
                          <a:latin typeface="Arial"/>
                        </a:rPr>
                        <a:t>0000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E0E0E0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E0E0E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E0E0E0"/>
                          </a:solidFill>
                          <a:latin typeface="Arial"/>
                        </a:rPr>
                        <a:t>0000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E0E0E0"/>
                          </a:solidFill>
                          <a:latin typeface="Arial"/>
                        </a:rPr>
                        <a:t>0x060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FFFFFF"/>
                          </a:solidFill>
                          <a:latin typeface="Arial"/>
                        </a:rPr>
                        <a:t>I-type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E0E0E0"/>
                          </a:solidFill>
                          <a:latin typeface="Arial"/>
                        </a:rPr>
                        <a:t>LDI R3, 10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E0E0E0"/>
                          </a:solidFill>
                          <a:latin typeface="Arial"/>
                        </a:rPr>
                        <a:t>0110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E0E0E0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E0E0E0"/>
                          </a:solidFill>
                          <a:latin typeface="Arial"/>
                        </a:rPr>
                        <a:t>00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E0E0E0"/>
                          </a:solidFill>
                          <a:latin typeface="Arial"/>
                        </a:rPr>
                        <a:t>1010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E0E0E0"/>
                          </a:solidFill>
                          <a:latin typeface="Arial"/>
                        </a:rPr>
                        <a:t>0x6CA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FFFFFF"/>
                          </a:solidFill>
                          <a:latin typeface="Arial"/>
                        </a:rPr>
                        <a:t>J-type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E0E0E0"/>
                          </a:solidFill>
                          <a:latin typeface="Arial"/>
                        </a:rPr>
                        <a:t>JZ 9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E0E0E0"/>
                          </a:solidFill>
                          <a:latin typeface="Arial"/>
                        </a:rPr>
                        <a:t>1011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E0E0E0"/>
                          </a:solidFill>
                          <a:latin typeface="Arial"/>
                        </a:rPr>
                        <a:t>00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E0E0E0"/>
                          </a:solidFill>
                          <a:latin typeface="Arial"/>
                        </a:rPr>
                        <a:t>00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E0E0E0"/>
                          </a:solidFill>
                          <a:latin typeface="Arial"/>
                        </a:rPr>
                        <a:t>1001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E0E0E0"/>
                          </a:solidFill>
                          <a:latin typeface="Arial"/>
                        </a:rPr>
                        <a:t>0xB09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9E9E9E"/>
                </a:solidFill>
                <a:latin typeface="Arial"/>
              </a:rPr>
              <a:t>Uniform layout for all instructions → decoder always finds fields at fixed positions.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54864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INSTRUCTION SET (12 INSTRUCTIONS)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91672" cy="18288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E9E9E"/>
                </a:solidFill>
                <a:latin typeface="Arial"/>
              </a:rPr>
              <a:t>Bui Huu Loi · SE196720 · 4-Bit RISC CPU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53796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00E5FF"/>
                </a:solidFill>
                <a:latin typeface="Arial"/>
              </a:rPr>
              <a:t>09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34440"/>
          <a:ext cx="11064240" cy="4736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286000"/>
                <a:gridCol w="3291840"/>
                <a:gridCol w="1005840"/>
                <a:gridCol w="3108960"/>
              </a:tblGrid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E5FF"/>
                          </a:solidFill>
                          <a:latin typeface="Arial"/>
                        </a:rPr>
                        <a:t>Opcode</a:t>
                      </a:r>
                    </a:p>
                  </a:txBody>
                  <a:tcPr anchor="ctr" marL="91440" marR="91440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E5FF"/>
                          </a:solidFill>
                          <a:latin typeface="Arial"/>
                        </a:rPr>
                        <a:t>Instruction</a:t>
                      </a:r>
                    </a:p>
                  </a:txBody>
                  <a:tcPr anchor="ctr" marL="91440" marR="91440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E5FF"/>
                          </a:solidFill>
                          <a:latin typeface="Arial"/>
                        </a:rPr>
                        <a:t>Operation</a:t>
                      </a:r>
                    </a:p>
                  </a:txBody>
                  <a:tcPr anchor="ctr" marL="91440" marR="91440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E5FF"/>
                          </a:solidFill>
                          <a:latin typeface="Arial"/>
                        </a:rPr>
                        <a:t>Flags</a:t>
                      </a:r>
                    </a:p>
                  </a:txBody>
                  <a:tcPr anchor="ctr" marL="91440" marR="91440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E5FF"/>
                          </a:solidFill>
                          <a:latin typeface="Arial"/>
                        </a:rPr>
                        <a:t>Example → Hex</a:t>
                      </a:r>
                    </a:p>
                  </a:txBody>
                  <a:tcPr anchor="ctr" marL="91440" marR="91440">
                    <a:solidFill>
                      <a:srgbClr val="121212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Arial"/>
                        </a:rPr>
                        <a:t>0000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ADD Rd, Rs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Rd ← Rd + Rs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Z, C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ADD R1, R2 → 060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Arial"/>
                        </a:rPr>
                        <a:t>0001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SUB Rd, Rs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Rd ← Rd − Rs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Z, C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SUB R1, R2 → 160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Arial"/>
                        </a:rPr>
                        <a:t>0010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AND Rd, Rs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Rd ← Rd AND Rs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Z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AND R3, R2 → 2E0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Arial"/>
                        </a:rPr>
                        <a:t>0011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OR Rd, Rs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Rd ← Rd OR Rs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Z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OR R3, R2 → 3E0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Arial"/>
                        </a:rPr>
                        <a:t>0100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XOR Rd, Rs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Rd ← Rd XOR Rs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Z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XOR R1, R3 → 470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Arial"/>
                        </a:rPr>
                        <a:t>0101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NOT Rd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Rd ← NOT Rd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Z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NOT R0 → 500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Arial"/>
                        </a:rPr>
                        <a:t>0110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LDI Rd, imm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Rd ← imm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LDI R1, 5 → 645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Arial"/>
                        </a:rPr>
                        <a:t>0111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MOV Rd, Rs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Rd ← Rs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MOV R2, R1 → 790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Arial"/>
                        </a:rPr>
                        <a:t>1000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LOAD Rd, addr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Rd ← DMEM[addr]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LOAD R0, 0 → 800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Arial"/>
                        </a:rPr>
                        <a:t>1001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STORE Rd, addr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DMEM[addr] ← Rd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STORE R1, 1 → 941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Arial"/>
                        </a:rPr>
                        <a:t>1010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JMP addr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PC ← addr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JMP 5 → A05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Arial"/>
                        </a:rPr>
                        <a:t>1011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JZ addr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if Zero = 1 then PC ← addr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JZ 9 → B09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Arial"/>
                        </a:rPr>
                        <a:t>1100–1111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(reserved)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NOP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C00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54864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ALU AND STATUS FLAGS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91672" cy="18288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E9E9E"/>
                </a:solidFill>
                <a:latin typeface="Arial"/>
              </a:rPr>
              <a:t>Bui Huu Loi · SE196720 · 4-Bit RISC CPU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53796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00E5FF"/>
                </a:solidFill>
                <a:latin typeface="Arial"/>
              </a:rP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62179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371600"/>
                <a:gridCol w="1371600"/>
                <a:gridCol w="2377440"/>
              </a:tblGrid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0E5FF"/>
                          </a:solidFill>
                          <a:latin typeface="Arial"/>
                        </a:rPr>
                        <a:t>alu_ctrl</a:t>
                      </a:r>
                    </a:p>
                  </a:txBody>
                  <a:tcPr anchor="ctr" marL="91440" marR="91440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0E5FF"/>
                          </a:solidFill>
                          <a:latin typeface="Arial"/>
                        </a:rPr>
                        <a:t>Operation</a:t>
                      </a:r>
                    </a:p>
                  </a:txBody>
                  <a:tcPr anchor="ctr" marL="91440" marR="91440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0E5FF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 anchor="ctr" marL="91440" marR="91440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0E5FF"/>
                          </a:solidFill>
                          <a:latin typeface="Arial"/>
                        </a:rPr>
                        <a:t>Used By</a:t>
                      </a:r>
                    </a:p>
                  </a:txBody>
                  <a:tcPr anchor="ctr" marL="91440" marR="91440">
                    <a:solidFill>
                      <a:srgbClr val="121212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0E0E0"/>
                          </a:solidFill>
                          <a:latin typeface="Arial"/>
                        </a:rPr>
                        <a:t>ADD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0E0E0"/>
                          </a:solidFill>
                          <a:latin typeface="Arial"/>
                        </a:rPr>
                        <a:t>a + b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0E0E0"/>
                          </a:solidFill>
                          <a:latin typeface="Arial"/>
                        </a:rPr>
                        <a:t>ADD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0E0E0"/>
                          </a:solidFill>
                          <a:latin typeface="Arial"/>
                        </a:rPr>
                        <a:t>SUB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0E0E0"/>
                          </a:solidFill>
                          <a:latin typeface="Arial"/>
                        </a:rPr>
                        <a:t>a − b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0E0E0"/>
                          </a:solidFill>
                          <a:latin typeface="Arial"/>
                        </a:rPr>
                        <a:t>SUB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0E0E0"/>
                          </a:solidFill>
                          <a:latin typeface="Arial"/>
                        </a:rPr>
                        <a:t>AND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0E0E0"/>
                          </a:solidFill>
                          <a:latin typeface="Arial"/>
                        </a:rPr>
                        <a:t>a &amp; b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0E0E0"/>
                          </a:solidFill>
                          <a:latin typeface="Arial"/>
                        </a:rPr>
                        <a:t>AND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0E0E0"/>
                          </a:solidFill>
                          <a:latin typeface="Arial"/>
                        </a:rPr>
                        <a:t>OR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0E0E0"/>
                          </a:solidFill>
                          <a:latin typeface="Arial"/>
                        </a:rPr>
                        <a:t>a | b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0E0E0"/>
                          </a:solidFill>
                          <a:latin typeface="Arial"/>
                        </a:rPr>
                        <a:t>OR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0E0E0"/>
                          </a:solidFill>
                          <a:latin typeface="Arial"/>
                        </a:rPr>
                        <a:t>XOR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0E0E0"/>
                          </a:solidFill>
                          <a:latin typeface="Arial"/>
                        </a:rPr>
                        <a:t>a ^ b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0E0E0"/>
                          </a:solidFill>
                          <a:latin typeface="Arial"/>
                        </a:rPr>
                        <a:t>XOR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0E0E0"/>
                          </a:solidFill>
                          <a:latin typeface="Arial"/>
                        </a:rPr>
                        <a:t>NOT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0E0E0"/>
                          </a:solidFill>
                          <a:latin typeface="Arial"/>
                        </a:rPr>
                        <a:t>~a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0E0E0"/>
                          </a:solidFill>
                          <a:latin typeface="Arial"/>
                        </a:rPr>
                        <a:t>NOT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0E0E0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0E0E0"/>
                          </a:solidFill>
                          <a:latin typeface="Arial"/>
                        </a:rPr>
                        <a:t>b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0E0E0"/>
                          </a:solidFill>
                          <a:latin typeface="Arial"/>
                        </a:rPr>
                        <a:t>LDI, MOV, LOAD, STORE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4754880"/>
            <a:ext cx="6217920" cy="15087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4754880"/>
            <a:ext cx="73152" cy="150876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4892040"/>
            <a:ext cx="585215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ALU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5486400"/>
            <a:ext cx="5852159" cy="685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0E0E0"/>
                </a:solidFill>
                <a:latin typeface="Arial"/>
              </a:rPr>
              <a:t>Shared adder/subtractor + logic block + result MUX + zero detector. A − B = A + ~B + 1 (XOR do_sub, also used as carry-in).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0880" y="1280160"/>
            <a:ext cx="4572000" cy="498348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0880" y="1280160"/>
            <a:ext cx="73152" cy="4983480"/>
          </a:xfrm>
          <a:prstGeom prst="rect">
            <a:avLst/>
          </a:prstGeom>
          <a:solidFill>
            <a:srgbClr val="D50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1417319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Carry Convention (ARM-style)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011680"/>
            <a:ext cx="420624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E0E0E0"/>
                </a:solidFill>
                <a:latin typeface="Arial"/>
              </a:rPr>
              <a:t>ADD: C = 1 ⇒ sum exceeds 4 bits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E0E0E0"/>
                </a:solidFill>
                <a:latin typeface="Arial"/>
              </a:rPr>
              <a:t>SUB: C = 1 ⇒ no borrow (A ≥ B); C = 0 ⇒ borrow required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E0E0E0"/>
                </a:solidFill>
                <a:latin typeface="Arial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E0E0E0"/>
                </a:solidFill>
                <a:latin typeface="Arial"/>
              </a:rPr>
              <a:t>5 + 3  = 1000  (Z=0, C=0)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E0E0E0"/>
                </a:solidFill>
                <a:latin typeface="Arial"/>
              </a:rPr>
              <a:t>15 + 1 = 0000  (Z=1, C=1)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E0E0E0"/>
                </a:solidFill>
                <a:latin typeface="Arial"/>
              </a:rPr>
              <a:t>5 − 3  = 0010  (Z=0, C=1)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E0E0E0"/>
                </a:solidFill>
                <a:latin typeface="Arial"/>
              </a:rPr>
              <a:t>3 − 5  = 1110  (Z=0, C=0)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E0E0E0"/>
                </a:solidFill>
                <a:latin typeface="Arial"/>
              </a:rPr>
              <a:t>7 − 7  = 0000  (Z=1, C=1)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54864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INSTRUCTION DECODER (ID STAGE)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91672" cy="18288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E9E9E"/>
                </a:solidFill>
                <a:latin typeface="Arial"/>
              </a:rPr>
              <a:t>Bui Huu Loi · SE196720 · 4-Bit RISC CPU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53796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00E5FF"/>
                </a:solidFill>
                <a:latin typeface="Arial"/>
              </a:rPr>
              <a:t>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15568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280160"/>
                <a:gridCol w="914400"/>
                <a:gridCol w="914400"/>
                <a:gridCol w="914400"/>
                <a:gridCol w="914400"/>
                <a:gridCol w="960120"/>
                <a:gridCol w="1051560"/>
                <a:gridCol w="914400"/>
                <a:gridCol w="91440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E5FF"/>
                          </a:solidFill>
                          <a:latin typeface="Arial"/>
                        </a:rPr>
                        <a:t>Instr</a:t>
                      </a:r>
                    </a:p>
                  </a:txBody>
                  <a:tcPr anchor="ctr" marL="91440" marR="91440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E5FF"/>
                          </a:solidFill>
                          <a:latin typeface="Arial"/>
                        </a:rPr>
                        <a:t>alu_ctrl</a:t>
                      </a:r>
                    </a:p>
                  </a:txBody>
                  <a:tcPr anchor="ctr" marL="91440" marR="91440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E5FF"/>
                          </a:solidFill>
                          <a:latin typeface="Arial"/>
                        </a:rPr>
                        <a:t>alu_src</a:t>
                      </a:r>
                    </a:p>
                  </a:txBody>
                  <a:tcPr anchor="ctr" marL="91440" marR="91440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E5FF"/>
                          </a:solidFill>
                          <a:latin typeface="Arial"/>
                        </a:rPr>
                        <a:t>wb_sel</a:t>
                      </a:r>
                    </a:p>
                  </a:txBody>
                  <a:tcPr anchor="ctr" marL="91440" marR="91440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E5FF"/>
                          </a:solidFill>
                          <a:latin typeface="Arial"/>
                        </a:rPr>
                        <a:t>reg_we</a:t>
                      </a:r>
                    </a:p>
                  </a:txBody>
                  <a:tcPr anchor="ctr" marL="91440" marR="91440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E5FF"/>
                          </a:solidFill>
                          <a:latin typeface="Arial"/>
                        </a:rPr>
                        <a:t>mem_we</a:t>
                      </a:r>
                    </a:p>
                  </a:txBody>
                  <a:tcPr anchor="ctr" marL="91440" marR="91440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E5FF"/>
                          </a:solidFill>
                          <a:latin typeface="Arial"/>
                        </a:rPr>
                        <a:t>zero_we</a:t>
                      </a:r>
                    </a:p>
                  </a:txBody>
                  <a:tcPr anchor="ctr" marL="91440" marR="91440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E5FF"/>
                          </a:solidFill>
                          <a:latin typeface="Arial"/>
                        </a:rPr>
                        <a:t>carry_we</a:t>
                      </a:r>
                    </a:p>
                  </a:txBody>
                  <a:tcPr anchor="ctr" marL="91440" marR="91440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E5FF"/>
                          </a:solidFill>
                          <a:latin typeface="Arial"/>
                        </a:rPr>
                        <a:t>is_jmp</a:t>
                      </a:r>
                    </a:p>
                  </a:txBody>
                  <a:tcPr anchor="ctr" marL="91440" marR="91440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E5FF"/>
                          </a:solidFill>
                          <a:latin typeface="Arial"/>
                        </a:rPr>
                        <a:t>is_jz</a:t>
                      </a:r>
                    </a:p>
                  </a:txBody>
                  <a:tcPr anchor="ctr" marL="91440" marR="91440">
                    <a:solidFill>
                      <a:srgbClr val="12121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Arial"/>
                        </a:rPr>
                        <a:t>ADD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ADD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Arial"/>
                        </a:rPr>
                        <a:t>SUB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SUB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Arial"/>
                        </a:rPr>
                        <a:t>AND/OR/XOR/NOT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op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Arial"/>
                        </a:rPr>
                        <a:t>LDI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Arial"/>
                        </a:rPr>
                        <a:t>MOV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Arial"/>
                        </a:rPr>
                        <a:t>LOAD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Arial"/>
                        </a:rPr>
                        <a:t>STORE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Arial"/>
                        </a:rPr>
                        <a:t>JMP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Arial"/>
                        </a:rPr>
                        <a:t>JZ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Arial"/>
                        </a:rPr>
                        <a:t>Reserved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6235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D500F9"/>
                </a:solidFill>
                <a:latin typeface="Arial"/>
              </a:rPr>
              <a:t>►  </a:t>
            </a:r>
            <a:r>
              <a:rPr sz="1500" b="0">
                <a:solidFill>
                  <a:srgbClr val="E0E0E0"/>
                </a:solidFill>
                <a:latin typeface="Arial"/>
              </a:rPr>
              <a:t>Combinational decoder, all signals default to 'do nothing' → prevents latches, reserved opcodes act as NOP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54864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BRANCH UNIT (EX STAGE)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91672" cy="18288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E9E9E"/>
                </a:solidFill>
                <a:latin typeface="Arial"/>
              </a:rPr>
              <a:t>Bui Huu Loi · SE196720 · 4-Bit RISC CPU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53796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00E5FF"/>
                </a:solidFill>
                <a:latin typeface="Arial"/>
              </a:rPr>
              <a:t>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694944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822960"/>
                <a:gridCol w="914400"/>
                <a:gridCol w="822960"/>
                <a:gridCol w="265176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E5FF"/>
                          </a:solidFill>
                          <a:latin typeface="Arial"/>
                        </a:rPr>
                        <a:t>Instr in EX</a:t>
                      </a:r>
                    </a:p>
                  </a:txBody>
                  <a:tcPr anchor="ctr" marL="91440" marR="91440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0E5FF"/>
                          </a:solidFill>
                          <a:latin typeface="Arial"/>
                        </a:rPr>
                        <a:t>Zero</a:t>
                      </a:r>
                    </a:p>
                  </a:txBody>
                  <a:tcPr anchor="ctr" marL="91440" marR="91440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0E5FF"/>
                          </a:solidFill>
                          <a:latin typeface="Arial"/>
                        </a:rPr>
                        <a:t>pc_sel</a:t>
                      </a:r>
                    </a:p>
                  </a:txBody>
                  <a:tcPr anchor="ctr" marL="91440" marR="91440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0E5FF"/>
                          </a:solidFill>
                          <a:latin typeface="Arial"/>
                        </a:rPr>
                        <a:t>flush</a:t>
                      </a:r>
                    </a:p>
                  </a:txBody>
                  <a:tcPr anchor="ctr" marL="91440" marR="91440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E5FF"/>
                          </a:solidFill>
                          <a:latin typeface="Arial"/>
                        </a:rPr>
                        <a:t>Result on Clock Edge</a:t>
                      </a:r>
                    </a:p>
                  </a:txBody>
                  <a:tcPr anchor="ctr" marL="91440" marR="91440">
                    <a:solidFill>
                      <a:srgbClr val="12121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Arial"/>
                        </a:rPr>
                        <a:t>Non-jump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0E0E0"/>
                          </a:solidFill>
                          <a:latin typeface="Arial"/>
                        </a:rPr>
                        <a:t>any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0E0E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0E0E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0E0E0"/>
                          </a:solidFill>
                          <a:latin typeface="Arial"/>
                        </a:rPr>
                        <a:t>PC ← PC + 1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Arial"/>
                        </a:rPr>
                        <a:t>JMP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0E0E0"/>
                          </a:solidFill>
                          <a:latin typeface="Arial"/>
                        </a:rPr>
                        <a:t>any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0E0E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0E0E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0E0E0"/>
                          </a:solidFill>
                          <a:latin typeface="Arial"/>
                        </a:rPr>
                        <a:t>PC ← jump address; clear IF/ID, ID/EX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Arial"/>
                        </a:rPr>
                        <a:t>JZ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0E0E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0E0E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0E0E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0E0E0"/>
                          </a:solidFill>
                          <a:latin typeface="Arial"/>
                        </a:rPr>
                        <a:t>No jump; continue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Arial"/>
                        </a:rPr>
                        <a:t>JZ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0E0E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0E0E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0E0E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0E0E0"/>
                          </a:solidFill>
                          <a:latin typeface="Arial"/>
                        </a:rPr>
                        <a:t>PC ← jump address; clear IF/ID, ID/EX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4389120"/>
            <a:ext cx="6949440" cy="18288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4389120"/>
            <a:ext cx="73152" cy="1828800"/>
          </a:xfrm>
          <a:prstGeom prst="rect">
            <a:avLst/>
          </a:prstGeom>
          <a:solidFill>
            <a:srgbClr val="D50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4526280"/>
            <a:ext cx="65836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Key 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5120640"/>
            <a:ext cx="6583679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0E0E0"/>
                </a:solidFill>
                <a:latin typeface="Arial"/>
              </a:rPr>
              <a:t>• Conditional jump is just a MUX: for JZ, pc_sel = saved Zero flag.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0E0E0"/>
                </a:solidFill>
                <a:latin typeface="Arial"/>
              </a:rPr>
              <a:t>• Jumps are decided in EX, so every taken jump costs 2 clock cycles.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1280160"/>
            <a:ext cx="3840480" cy="49377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0" y="1280160"/>
            <a:ext cx="3840480" cy="45720"/>
          </a:xfrm>
          <a:prstGeom prst="rect">
            <a:avLst/>
          </a:prstGeom>
          <a:solidFill>
            <a:srgbClr val="D50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1508760"/>
            <a:ext cx="347472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00FF00"/>
                </a:solidFill>
                <a:latin typeface="Courier New"/>
              </a:rPr>
              <a:t>always @(*) begin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0FF00"/>
                </a:solidFill>
                <a:latin typeface="Courier New"/>
              </a:rPr>
              <a:t>  if (is_jmp)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0FF00"/>
                </a:solidFill>
                <a:latin typeface="Courier New"/>
              </a:rPr>
              <a:t>    pc_sel = 1'b1;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0FF00"/>
                </a:solidFill>
                <a:latin typeface="Courier New"/>
              </a:rPr>
              <a:t>  else if (is_jz &amp;&amp; zero_flag)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0FF00"/>
                </a:solidFill>
                <a:latin typeface="Courier New"/>
              </a:rPr>
              <a:t>    pc_sel = 1'b1;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0FF00"/>
                </a:solidFill>
                <a:latin typeface="Courier New"/>
              </a:rPr>
              <a:t>  else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0FF00"/>
                </a:solidFill>
                <a:latin typeface="Courier New"/>
              </a:rPr>
              <a:t>    pc_sel = 1'b0;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0FF00"/>
                </a:solidFill>
                <a:latin typeface="Courier New"/>
              </a:rPr>
              <a:t>end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0FF00"/>
                </a:solidFill>
                <a:latin typeface="Courier New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0FF00"/>
                </a:solidFill>
                <a:latin typeface="Courier New"/>
              </a:rPr>
              <a:t>assign flush = pc_sel;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54864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RTL SCHEMATIC OF CPU_TOP (VIVADO)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91672" cy="18288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E9E9E"/>
                </a:solidFill>
                <a:latin typeface="Arial"/>
              </a:rPr>
              <a:t>Bui Huu Loi · SE196720 · 4-Bit RISC CPU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53796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00E5FF"/>
                </a:solidFill>
                <a:latin typeface="Arial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1107792" y="1234439"/>
            <a:ext cx="9945934" cy="38862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chematic (4)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512" y="1280160"/>
            <a:ext cx="9854494" cy="37947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93495" y="5303520"/>
            <a:ext cx="640080" cy="3657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IMEM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3495" y="5623560"/>
            <a:ext cx="640080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06727" y="5303520"/>
            <a:ext cx="640080" cy="3657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IR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06727" y="5623560"/>
            <a:ext cx="640080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19959" y="5303520"/>
            <a:ext cx="640080" cy="3657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CU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9959" y="5623560"/>
            <a:ext cx="640080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33191" y="5303520"/>
            <a:ext cx="640080" cy="3657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ID_EX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33191" y="5623560"/>
            <a:ext cx="640080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46423" y="5303520"/>
            <a:ext cx="640080" cy="3657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RF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6423" y="5623560"/>
            <a:ext cx="640080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59655" y="5303520"/>
            <a:ext cx="1188720" cy="3657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OPERAND_MUX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59655" y="5623560"/>
            <a:ext cx="1188720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821527" y="5303520"/>
            <a:ext cx="640080" cy="3657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ALU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21527" y="5623560"/>
            <a:ext cx="640080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34759" y="5303520"/>
            <a:ext cx="640080" cy="3657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FLAGS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34759" y="5623560"/>
            <a:ext cx="640080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47991" y="5303520"/>
            <a:ext cx="640080" cy="3657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DMEM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47991" y="5623560"/>
            <a:ext cx="640080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61223" y="5303520"/>
            <a:ext cx="731520" cy="3657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WB_MUX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61223" y="5623560"/>
            <a:ext cx="731520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765895" y="5303520"/>
            <a:ext cx="731520" cy="3657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PC_MUX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65895" y="5623560"/>
            <a:ext cx="731520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70567" y="5303520"/>
            <a:ext cx="640080" cy="3657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PC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70567" y="5623560"/>
            <a:ext cx="640080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283799" y="5303520"/>
            <a:ext cx="914400" cy="3657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PC+1 ADD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283799" y="5623560"/>
            <a:ext cx="914400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9E9E9E"/>
                </a:solidFill>
                <a:latin typeface="Arial"/>
              </a:rPr>
              <a:t>Observation Ports: pc_out[3:0] · instr_out[11:0] · alu_out[3:0] · wb_data_out[3:0] · zero_out · carry_out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54864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TEST PROGRAMS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91672" cy="18288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E9E9E"/>
                </a:solidFill>
                <a:latin typeface="Arial"/>
              </a:rPr>
              <a:t>Bui Huu Loi · SE196720 · 4-Bit RISC CPU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53796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00E5FF"/>
                </a:solidFill>
                <a:latin typeface="Arial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0E5FF"/>
                </a:solidFill>
                <a:latin typeface="Arial"/>
              </a:rPr>
              <a:t>program.mem – demo program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600200"/>
          <a:ext cx="5486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822960"/>
                <a:gridCol w="2103120"/>
                <a:gridCol w="192024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E5FF"/>
                          </a:solidFill>
                          <a:latin typeface="Arial"/>
                        </a:rPr>
                        <a:t>Addr</a:t>
                      </a:r>
                    </a:p>
                  </a:txBody>
                  <a:tcPr anchor="ctr" marL="91440" marR="91440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E5FF"/>
                          </a:solidFill>
                          <a:latin typeface="Arial"/>
                        </a:rPr>
                        <a:t>Hex</a:t>
                      </a:r>
                    </a:p>
                  </a:txBody>
                  <a:tcPr anchor="ctr" marL="91440" marR="91440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E5FF"/>
                          </a:solidFill>
                          <a:latin typeface="Arial"/>
                        </a:rPr>
                        <a:t>Instruction</a:t>
                      </a:r>
                    </a:p>
                  </a:txBody>
                  <a:tcPr anchor="ctr" marL="91440" marR="91440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E5FF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 anchor="ctr" marL="91440" marR="91440">
                    <a:solidFill>
                      <a:srgbClr val="12121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645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LDI R1, 5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R1 = 0101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683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LDI R2, 3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R2 = 0011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060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ADD R1, R2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R1 = 1000 (8)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6CA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LDI R3, 10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R3 = 1010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470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XOR R1, R3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R1 = 0010 (2)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A05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JMP 5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Infinite loop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17920" y="1188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D500F9"/>
                </a:solidFill>
                <a:latin typeface="Arial"/>
              </a:rPr>
              <a:t>prog_jump.mem – jump &amp; flush testing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17920" y="1600200"/>
          <a:ext cx="55778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005840"/>
                <a:gridCol w="2011680"/>
                <a:gridCol w="182880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Arial"/>
                        </a:rPr>
                        <a:t>Addr</a:t>
                      </a:r>
                    </a:p>
                  </a:txBody>
                  <a:tcPr anchor="ctr" marL="91440" marR="91440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Arial"/>
                        </a:rPr>
                        <a:t>Hex</a:t>
                      </a:r>
                    </a:p>
                  </a:txBody>
                  <a:tcPr anchor="ctr" marL="91440" marR="91440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E5FF"/>
                          </a:solidFill>
                          <a:latin typeface="Arial"/>
                        </a:rPr>
                        <a:t>Instruction</a:t>
                      </a:r>
                    </a:p>
                  </a:txBody>
                  <a:tcPr anchor="ctr" marL="91440" marR="91440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E5FF"/>
                          </a:solidFill>
                          <a:latin typeface="Arial"/>
                        </a:rPr>
                        <a:t>Effect</a:t>
                      </a:r>
                    </a:p>
                  </a:txBody>
                  <a:tcPr anchor="ctr" marL="91440" marR="91440">
                    <a:solidFill>
                      <a:srgbClr val="12121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E0E0E0"/>
                          </a:solidFill>
                          <a:latin typeface="Arial"/>
                        </a:rPr>
                        <a:t>601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E0E0E0"/>
                          </a:solidFill>
                          <a:latin typeface="Arial"/>
                        </a:rPr>
                        <a:t>LDI R0, 1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E0E0E0"/>
                          </a:solidFill>
                          <a:latin typeface="Arial"/>
                        </a:rPr>
                        <a:t>R0 = 1; PC 0 → 1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E0E0E0"/>
                          </a:solidFill>
                          <a:latin typeface="Arial"/>
                        </a:rPr>
                        <a:t>A04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E0E0E0"/>
                          </a:solidFill>
                          <a:latin typeface="Arial"/>
                        </a:rPr>
                        <a:t>JMP 4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E0E0E0"/>
                          </a:solidFill>
                          <a:latin typeface="Arial"/>
                        </a:rPr>
                        <a:t>PC = 4; flush addr 2–3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Arial"/>
                        </a:rPr>
                        <a:t>2–3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E0E0E0"/>
                          </a:solidFill>
                          <a:latin typeface="Arial"/>
                        </a:rPr>
                        <a:t>60F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E0E0E0"/>
                          </a:solidFill>
                          <a:latin typeface="Arial"/>
                        </a:rPr>
                        <a:t>LDI R0, 15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E0E0E0"/>
                          </a:solidFill>
                          <a:latin typeface="Arial"/>
                        </a:rPr>
                        <a:t>never executes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Arial"/>
                        </a:rPr>
                        <a:t>4–5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E0E0E0"/>
                          </a:solidFill>
                          <a:latin typeface="Arial"/>
                        </a:rPr>
                        <a:t>647, 150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E0E0E0"/>
                          </a:solidFill>
                          <a:latin typeface="Arial"/>
                        </a:rPr>
                        <a:t>LDI R1,7; SUB R1,R1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E0E0E0"/>
                          </a:solidFill>
                          <a:latin typeface="Arial"/>
                        </a:rPr>
                        <a:t>R1 = 0, Zero = 1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E0E0E0"/>
                          </a:solidFill>
                          <a:latin typeface="Arial"/>
                        </a:rPr>
                        <a:t>B09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E0E0E0"/>
                          </a:solidFill>
                          <a:latin typeface="Arial"/>
                        </a:rPr>
                        <a:t>JZ 9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E0E0E0"/>
                          </a:solidFill>
                          <a:latin typeface="Arial"/>
                        </a:rPr>
                        <a:t>taken: PC = 9; flush 7–8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Arial"/>
                        </a:rPr>
                        <a:t>9–10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E0E0E0"/>
                          </a:solidFill>
                          <a:latin typeface="Arial"/>
                        </a:rPr>
                        <a:t>6C2, 0F0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E0E0E0"/>
                          </a:solidFill>
                          <a:latin typeface="Arial"/>
                        </a:rPr>
                        <a:t>LDI R3,2; ADD R3,R3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E0E0E0"/>
                          </a:solidFill>
                          <a:latin typeface="Arial"/>
                        </a:rPr>
                        <a:t>R3 = 0100, Zero = 0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E0E0E0"/>
                          </a:solidFill>
                          <a:latin typeface="Arial"/>
                        </a:rPr>
                        <a:t>B0E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E0E0E0"/>
                          </a:solidFill>
                          <a:latin typeface="Arial"/>
                        </a:rPr>
                        <a:t>JZ 14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E0E0E0"/>
                          </a:solidFill>
                          <a:latin typeface="Arial"/>
                        </a:rPr>
                        <a:t>not taken: continue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Arial"/>
                        </a:rPr>
                        <a:t>12–13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E0E0E0"/>
                          </a:solidFill>
                          <a:latin typeface="Arial"/>
                        </a:rPr>
                        <a:t>686, A0D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E0E0E0"/>
                          </a:solidFill>
                          <a:latin typeface="Arial"/>
                        </a:rPr>
                        <a:t>LDI R2,6; JMP 13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E0E0E0"/>
                          </a:solidFill>
                          <a:latin typeface="Arial"/>
                        </a:rPr>
                        <a:t>R2 = 0110; halt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9E9E9E"/>
                </a:solidFill>
                <a:latin typeface="Arial"/>
              </a:rPr>
              <a:t>Others: prog_arith.mem (ADD, SUB, STORE, LOAD, Zero) and prog_logic.mem (AND, OR, XOR, MOV, NOT, LDI). Empty words = C00 (NOP).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54864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SELF-CHECKING TESTBENCH (TB_CPU.V)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91672" cy="18288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E9E9E"/>
                </a:solidFill>
                <a:latin typeface="Arial"/>
              </a:rPr>
              <a:t>Bui Huu Loi · SE196720 · 4-Bit RISC CPU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53796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00E5FF"/>
                </a:solidFill>
                <a:latin typeface="Arial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4754880" cy="498348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73152" cy="498348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417319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How It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011680"/>
            <a:ext cx="438912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0E0E0"/>
                </a:solidFill>
                <a:latin typeface="Arial"/>
              </a:rPr>
              <a:t>• Loads each .mem program into instruction memory, resets CPU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0E0E0"/>
                </a:solidFill>
                <a:latin typeface="Arial"/>
              </a:rPr>
              <a:t>• Waits until the target instruction is in EX, compares with expected value, prints PASS/FAIL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0E0E0"/>
                </a:solidFill>
                <a:latin typeface="Arial"/>
              </a:rPr>
              <a:t>• Tasks: load_program, reset_cpu (holds reset for 2 clocks), finish(addr), check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0E0E0"/>
                </a:solidFill>
                <a:latin typeface="Arial"/>
              </a:rPr>
              <a:t>• Waits per instruction since cycle count varies after jumps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0" y="1280160"/>
          <a:ext cx="6126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1645920"/>
                <a:gridCol w="2377440"/>
                <a:gridCol w="822960"/>
                <a:gridCol w="822960"/>
              </a:tblGrid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E5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anchor="ctr" marL="91440" marR="91440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E5FF"/>
                          </a:solidFill>
                          <a:latin typeface="Arial"/>
                        </a:rPr>
                        <a:t>Program</a:t>
                      </a:r>
                    </a:p>
                  </a:txBody>
                  <a:tcPr anchor="ctr" marL="91440" marR="91440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E5FF"/>
                          </a:solidFill>
                          <a:latin typeface="Arial"/>
                        </a:rPr>
                        <a:t>Check</a:t>
                      </a:r>
                    </a:p>
                  </a:txBody>
                  <a:tcPr anchor="ctr" marL="91440" marR="91440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E5FF"/>
                          </a:solidFill>
                          <a:latin typeface="Arial"/>
                        </a:rPr>
                        <a:t>Value</a:t>
                      </a:r>
                    </a:p>
                  </a:txBody>
                  <a:tcPr anchor="ctr" marL="91440" marR="91440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E5FF"/>
                          </a:solidFill>
                          <a:latin typeface="Arial"/>
                        </a:rPr>
                        <a:t>Res</a:t>
                      </a:r>
                    </a:p>
                  </a:txBody>
                  <a:tcPr anchor="ctr" marL="91440" marR="91440">
                    <a:solidFill>
                      <a:srgbClr val="12121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program.mem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ADD R1, R2 (5+3)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1000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program.mem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XOR R1, R3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0010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prog_arith.mem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ADD R1, R2 → R1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1000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prog_arith.mem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STORE R1, 0 → DMEM[0]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1000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prog_arith.mem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SUB R1, R2 → R1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0010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prog_logic.mem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AND → R3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1000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prog_jump.mem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JMP 4: PC = 0100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0100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0E0E0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486400" y="5806440"/>
            <a:ext cx="6126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0E5FF"/>
                </a:solidFill>
                <a:latin typeface="Arial"/>
              </a:rPr>
              <a:t>7 / 7 checks PASS, errors = 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54864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SIMULATION RESULTS – TCL CONSOLE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91672" cy="18288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E9E9E"/>
                </a:solidFill>
                <a:latin typeface="Arial"/>
              </a:rPr>
              <a:t>Bui Huu Loi · SE196720 · 4-Bit RISC CPU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53796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00E5FF"/>
                </a:solidFill>
                <a:latin typeface="Arial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19" y="1247410"/>
            <a:ext cx="11155680" cy="3265899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cl (4)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93130"/>
            <a:ext cx="11064240" cy="317445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4754880"/>
            <a:ext cx="3566160" cy="146304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901184"/>
            <a:ext cx="3200400" cy="7315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>
                <a:solidFill>
                  <a:srgbClr val="00E5FF"/>
                </a:solidFill>
                <a:latin typeface="Arial"/>
              </a:rPr>
              <a:t>7 /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32704"/>
            <a:ext cx="32004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9E9E9E"/>
                </a:solidFill>
                <a:latin typeface="Arial"/>
              </a:rPr>
              <a:t>all checks PASS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4754880"/>
            <a:ext cx="3566160" cy="146304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4901184"/>
            <a:ext cx="3200400" cy="7315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>
                <a:solidFill>
                  <a:srgbClr val="D500F9"/>
                </a:solidFill>
                <a:latin typeface="Arial"/>
              </a:rPr>
              <a:t>errors =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5632704"/>
            <a:ext cx="32004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9E9E9E"/>
                </a:solidFill>
                <a:latin typeface="Arial"/>
              </a:rPr>
              <a:t>no errors found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4754880"/>
            <a:ext cx="3566160" cy="146304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4901184"/>
            <a:ext cx="3200400" cy="7315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>
                <a:solidFill>
                  <a:srgbClr val="00E5FF"/>
                </a:solidFill>
                <a:latin typeface="Arial"/>
              </a:rPr>
              <a:t>326 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5632704"/>
            <a:ext cx="32004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9E9E9E"/>
                </a:solidFill>
                <a:latin typeface="Arial"/>
              </a:rPr>
              <a:t>$finish at tb_cpu.v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54864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FULL SIMULATION WAVEFORM (0 – 326 NS)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91672" cy="18288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E9E9E"/>
                </a:solidFill>
                <a:latin typeface="Arial"/>
              </a:rPr>
              <a:t>Bui Huu Loi · SE196720 · 4-Bit RISC CPU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53796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00E5FF"/>
                </a:solidFill>
                <a:latin typeface="Arial"/>
              </a:rP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19" y="1327310"/>
            <a:ext cx="7406640" cy="4660579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waveform (4)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3030"/>
            <a:ext cx="7315200" cy="456913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138160" y="1280160"/>
            <a:ext cx="3474720" cy="475488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38160" y="1280160"/>
            <a:ext cx="73152" cy="475488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417319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Observations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011680"/>
            <a:ext cx="310896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321040" y="201168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D500F9"/>
                </a:solidFill>
                <a:latin typeface="Arial"/>
              </a:rPr>
              <a:t>►  </a:t>
            </a:r>
            <a:r>
              <a:rPr sz="1400" b="0">
                <a:solidFill>
                  <a:srgbClr val="E0E0E0"/>
                </a:solidFill>
                <a:latin typeface="Arial"/>
              </a:rPr>
              <a:t>rst is pulsed before each test program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D500F9"/>
                </a:solidFill>
                <a:latin typeface="Arial"/>
              </a:rPr>
              <a:t>►  </a:t>
            </a:r>
            <a:r>
              <a:rPr sz="1400" b="0">
                <a:solidFill>
                  <a:srgbClr val="E0E0E0"/>
                </a:solidFill>
                <a:latin typeface="Arial"/>
              </a:rPr>
              <a:t>checks increment up to 7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D500F9"/>
                </a:solidFill>
                <a:latin typeface="Arial"/>
              </a:rPr>
              <a:t>►  </a:t>
            </a:r>
            <a:r>
              <a:rPr sz="1400" b="0">
                <a:solidFill>
                  <a:srgbClr val="E0E0E0"/>
                </a:solidFill>
                <a:latin typeface="Arial"/>
              </a:rPr>
              <a:t>errors remain at 0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D500F9"/>
                </a:solidFill>
                <a:latin typeface="Arial"/>
              </a:rPr>
              <a:t>►  </a:t>
            </a:r>
            <a:r>
              <a:rPr sz="1400" b="0">
                <a:solidFill>
                  <a:srgbClr val="E0E0E0"/>
                </a:solidFill>
                <a:latin typeface="Arial"/>
              </a:rPr>
              <a:t>pc_out and alu_out follow the running program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54864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SIGNAL VALUES AT 326 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91672" cy="18288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E9E9E"/>
                </a:solidFill>
                <a:latin typeface="Arial"/>
              </a:rPr>
              <a:t>Bui Huu Loi · SE196720 · 4-Bit RISC CPU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53796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00E5FF"/>
                </a:solidFill>
                <a:latin typeface="Arial"/>
              </a:rP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19" y="1327310"/>
            <a:ext cx="7406640" cy="4660579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estbench (4)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3030"/>
            <a:ext cx="7315200" cy="456913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138160" y="1280160"/>
            <a:ext cx="3474720" cy="475488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38160" y="1280160"/>
            <a:ext cx="73152" cy="475488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417319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Final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011680"/>
            <a:ext cx="310896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321040" y="201168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D500F9"/>
                </a:solidFill>
                <a:latin typeface="Arial"/>
              </a:rPr>
              <a:t>►  </a:t>
            </a:r>
            <a:r>
              <a:rPr sz="1400" b="0">
                <a:solidFill>
                  <a:srgbClr val="E0E0E0"/>
                </a:solidFill>
                <a:latin typeface="Arial"/>
              </a:rPr>
              <a:t>errors = 0, checks = 7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D500F9"/>
                </a:solidFill>
                <a:latin typeface="Arial"/>
              </a:rPr>
              <a:t>►  </a:t>
            </a:r>
            <a:r>
              <a:rPr sz="1400" b="0">
                <a:solidFill>
                  <a:srgbClr val="E0E0E0"/>
                </a:solidFill>
                <a:latin typeface="Arial"/>
              </a:rPr>
              <a:t>pc_out = 4 (correct for JMP 4)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D500F9"/>
                </a:solidFill>
                <a:latin typeface="Arial"/>
              </a:rPr>
              <a:t>►  </a:t>
            </a:r>
            <a:r>
              <a:rPr sz="1400" b="0">
                <a:solidFill>
                  <a:srgbClr val="E0E0E0"/>
                </a:solidFill>
                <a:latin typeface="Arial"/>
              </a:rPr>
              <a:t>instr_out = c00 (NOP in EX)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D500F9"/>
                </a:solidFill>
                <a:latin typeface="Arial"/>
              </a:rPr>
              <a:t>►  </a:t>
            </a:r>
            <a:r>
              <a:rPr sz="1400" b="0">
                <a:solidFill>
                  <a:srgbClr val="E0E0E0"/>
                </a:solidFill>
                <a:latin typeface="Arial"/>
              </a:rPr>
              <a:t>zero_out = 0, both flags are 0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D500F9"/>
                </a:solidFill>
                <a:latin typeface="Arial"/>
              </a:rPr>
              <a:t>►  </a:t>
            </a:r>
            <a:r>
              <a:rPr sz="1400" b="0">
                <a:solidFill>
                  <a:srgbClr val="E0E0E0"/>
                </a:solidFill>
                <a:latin typeface="Arial"/>
              </a:rPr>
              <a:t>Sim Time: 326 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54864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SYNTHESIS ON ARTIX-7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91672" cy="18288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E9E9E"/>
                </a:solidFill>
                <a:latin typeface="Arial"/>
              </a:rPr>
              <a:t>Bui Huu Loi · SE196720 · 4-Bit RISC CPU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53796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00E5FF"/>
                </a:solidFill>
                <a:latin typeface="Arial"/>
              </a:rP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70167"/>
            <a:ext cx="7315199" cy="4603465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ayout (4)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15887"/>
            <a:ext cx="7223759" cy="451202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955279" y="1280160"/>
            <a:ext cx="3657600" cy="13716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59" y="1417319"/>
            <a:ext cx="3291840" cy="6858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>
                <a:solidFill>
                  <a:srgbClr val="00E5FF"/>
                </a:solidFill>
                <a:latin typeface="Arial"/>
              </a:rPr>
              <a:t>Synthesis 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59" y="2103120"/>
            <a:ext cx="3291840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9E9E9E"/>
                </a:solidFill>
                <a:latin typeface="Arial"/>
              </a:rPr>
              <a:t>Vivado 2026.1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79" y="2834640"/>
            <a:ext cx="3657600" cy="13716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59" y="2971800"/>
            <a:ext cx="3291840" cy="6858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>
                <a:solidFill>
                  <a:srgbClr val="D500F9"/>
                </a:solidFill>
                <a:latin typeface="Arial"/>
              </a:rPr>
              <a:t>37 nets · 31 cells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59" y="3657600"/>
            <a:ext cx="3291840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9E9E9E"/>
                </a:solidFill>
                <a:latin typeface="Arial"/>
              </a:rPr>
              <a:t>Leaf cells at cpu_top level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79" y="4389120"/>
            <a:ext cx="3657600" cy="13716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59" y="4526280"/>
            <a:ext cx="3291840" cy="6858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>
                <a:solidFill>
                  <a:srgbClr val="00E5FF"/>
                </a:solidFill>
                <a:latin typeface="Arial"/>
              </a:rPr>
              <a:t>xc7a35tcpg236-1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59" y="5212079"/>
            <a:ext cx="3291840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9E9E9E"/>
                </a:solidFill>
                <a:latin typeface="Arial"/>
              </a:rPr>
              <a:t>Target device Artix-7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585216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E9E9E"/>
                </a:solidFill>
                <a:latin typeface="Arial"/>
              </a:rPr>
              <a:t>Includes hierarchical cells like PC.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54864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TIMING &amp; CONSTRAINTS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91672" cy="18288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E9E9E"/>
                </a:solidFill>
                <a:latin typeface="Arial"/>
              </a:rPr>
              <a:t>Bui Huu Loi · SE196720 · 4-Bit RISC CPU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53796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00E5FF"/>
                </a:solidFill>
                <a:latin typeface="Arial"/>
              </a:rPr>
              <a:t>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303520" cy="498348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73152" cy="4983480"/>
          </a:xfrm>
          <a:prstGeom prst="rect">
            <a:avLst/>
          </a:prstGeom>
          <a:solidFill>
            <a:srgbClr val="D50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417319"/>
            <a:ext cx="493775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Check Timing: 17 Warnings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011680"/>
            <a:ext cx="4937759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85800" y="210312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D500F9"/>
                </a:solidFill>
                <a:latin typeface="Arial"/>
              </a:rPr>
              <a:t>►  </a:t>
            </a:r>
            <a:r>
              <a:rPr sz="1500" b="0">
                <a:solidFill>
                  <a:srgbClr val="E0E0E0"/>
                </a:solidFill>
                <a:latin typeface="Arial"/>
              </a:rPr>
              <a:t>All due to missing constraints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D500F9"/>
                </a:solidFill>
                <a:latin typeface="Arial"/>
              </a:rPr>
              <a:t>►  </a:t>
            </a:r>
            <a:r>
              <a:rPr sz="1500" b="0">
                <a:solidFill>
                  <a:srgbClr val="E0E0E0"/>
                </a:solidFill>
                <a:latin typeface="Arial"/>
              </a:rPr>
              <a:t>8 unconstrained internal endpoints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D500F9"/>
                </a:solidFill>
                <a:latin typeface="Arial"/>
              </a:rPr>
              <a:t>►  </a:t>
            </a:r>
            <a:r>
              <a:rPr sz="1500" b="0">
                <a:solidFill>
                  <a:srgbClr val="E0E0E0"/>
                </a:solidFill>
                <a:latin typeface="Arial"/>
              </a:rPr>
              <a:t>4 no clock · 4 no output delay · 1 no input delay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D500F9"/>
                </a:solidFill>
                <a:latin typeface="Arial"/>
              </a:rPr>
              <a:t>►  </a:t>
            </a:r>
            <a:r>
              <a:rPr sz="1500" b="1">
                <a:solidFill>
                  <a:srgbClr val="00E5FF"/>
                </a:solidFill>
                <a:latin typeface="Arial"/>
              </a:rPr>
              <a:t>Consequence: </a:t>
            </a:r>
            <a:r>
              <a:rPr sz="1500" b="0">
                <a:solidFill>
                  <a:srgbClr val="E0E0E0"/>
                </a:solidFill>
                <a:latin typeface="Arial"/>
              </a:rPr>
              <a:t>Without clock constraints, WNS and Fmax are meaningless; max frequency is not reported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D500F9"/>
                </a:solidFill>
                <a:latin typeface="Arial"/>
              </a:rPr>
              <a:t>►  </a:t>
            </a:r>
            <a:r>
              <a:rPr sz="1500" b="1">
                <a:solidFill>
                  <a:srgbClr val="00E5FF"/>
                </a:solidFill>
                <a:latin typeface="Arial"/>
              </a:rPr>
              <a:t>Next Step: </a:t>
            </a:r>
            <a:r>
              <a:rPr sz="1500" b="0">
                <a:solidFill>
                  <a:srgbClr val="E0E0E0"/>
                </a:solidFill>
                <a:latin typeface="Arial"/>
              </a:rPr>
              <a:t>Add .xdc file, rerun implementation, check utilization report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280160"/>
            <a:ext cx="5486400" cy="498348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280160"/>
            <a:ext cx="5486400" cy="45720"/>
          </a:xfrm>
          <a:prstGeom prst="rect">
            <a:avLst/>
          </a:prstGeom>
          <a:solidFill>
            <a:srgbClr val="D50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508760"/>
            <a:ext cx="5120640" cy="4709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00FF00"/>
                </a:solidFill>
                <a:latin typeface="Courier New"/>
              </a:rPr>
              <a:t># constraints.xdc (e.g., 100 MHz)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0FF00"/>
                </a:solidFill>
                <a:latin typeface="Courier New"/>
              </a:rPr>
              <a:t>create_clock -period 10.000 -name clk [get_ports clk]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0FF00"/>
                </a:solidFill>
                <a:latin typeface="Courier New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0FF00"/>
                </a:solidFill>
                <a:latin typeface="Courier New"/>
              </a:rPr>
              <a:t>set_input_delay -clock clk 2.000 [get_ports rst]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0FF00"/>
                </a:solidFill>
                <a:latin typeface="Courier New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0FF00"/>
                </a:solidFill>
                <a:latin typeface="Courier New"/>
              </a:rPr>
              <a:t>set_output_delay -clock clk 2.000 \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0FF00"/>
                </a:solidFill>
                <a:latin typeface="Courier New"/>
              </a:rPr>
              <a:t>  [get_ports {pc_out[*] instr_out[*] \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0FF00"/>
                </a:solidFill>
                <a:latin typeface="Courier New"/>
              </a:rPr>
              <a:t>   alu_out[*] wb_data_out[*] \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0FF00"/>
                </a:solidFill>
                <a:latin typeface="Courier New"/>
              </a:rPr>
              <a:t>   zero_out carry_out}]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54864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91672" cy="18288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E9E9E"/>
                </a:solidFill>
                <a:latin typeface="Arial"/>
              </a:rPr>
              <a:t>Bui Huu Loi · SE196720 · 4-Bit RISC CPU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53796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00E5FF"/>
                </a:solidFill>
                <a:latin typeface="Arial"/>
              </a:rPr>
              <a:t>21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66751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731520"/>
                <a:gridCol w="914400"/>
                <a:gridCol w="731520"/>
                <a:gridCol w="1188720"/>
                <a:gridCol w="109728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E5FF"/>
                          </a:solidFill>
                          <a:latin typeface="Arial"/>
                        </a:rPr>
                        <a:t>Program</a:t>
                      </a:r>
                    </a:p>
                  </a:txBody>
                  <a:tcPr anchor="ctr" marL="91440" marR="91440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0E5FF"/>
                          </a:solidFill>
                          <a:latin typeface="Arial"/>
                        </a:rPr>
                        <a:t>Inst</a:t>
                      </a:r>
                    </a:p>
                  </a:txBody>
                  <a:tcPr anchor="ctr" marL="91440" marR="91440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0E5FF"/>
                          </a:solidFill>
                          <a:latin typeface="Arial"/>
                        </a:rPr>
                        <a:t>Clock</a:t>
                      </a:r>
                    </a:p>
                  </a:txBody>
                  <a:tcPr anchor="ctr" marL="91440" marR="91440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0E5FF"/>
                          </a:solidFill>
                          <a:latin typeface="Arial"/>
                        </a:rPr>
                        <a:t>CPI</a:t>
                      </a:r>
                    </a:p>
                  </a:txBody>
                  <a:tcPr anchor="ctr" marL="91440" marR="91440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0E5FF"/>
                          </a:solidFill>
                          <a:latin typeface="Arial"/>
                        </a:rPr>
                        <a:t>2 clk/inst</a:t>
                      </a:r>
                    </a:p>
                  </a:txBody>
                  <a:tcPr anchor="ctr" marL="91440" marR="91440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0E5FF"/>
                          </a:solidFill>
                          <a:latin typeface="Arial"/>
                        </a:rPr>
                        <a:t>Speedup</a:t>
                      </a:r>
                    </a:p>
                  </a:txBody>
                  <a:tcPr anchor="ctr" marL="91440" marR="91440">
                    <a:solidFill>
                      <a:srgbClr val="12121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Arial"/>
                        </a:rPr>
                        <a:t>Demo (up to XOR)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0E0E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0E0E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0E0E0"/>
                          </a:solidFill>
                          <a:latin typeface="Arial"/>
                        </a:rPr>
                        <a:t>1.40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0E0E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0E0E0"/>
                          </a:solidFill>
                          <a:latin typeface="Arial"/>
                        </a:rPr>
                        <a:t>1.4x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Arial"/>
                        </a:rPr>
                        <a:t>Arithmetic &amp; Mem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0E0E0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0E0E0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0E0E0"/>
                          </a:solidFill>
                          <a:latin typeface="Arial"/>
                        </a:rPr>
                        <a:t>1.22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0E0E0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0E0E0"/>
                          </a:solidFill>
                          <a:latin typeface="Arial"/>
                        </a:rPr>
                        <a:t>1.6x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Arial"/>
                        </a:rPr>
                        <a:t>Logic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0E0E0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0E0E0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0E0E0"/>
                          </a:solidFill>
                          <a:latin typeface="Arial"/>
                        </a:rPr>
                        <a:t>1.17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0E0E0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0E0E0"/>
                          </a:solidFill>
                          <a:latin typeface="Arial"/>
                        </a:rPr>
                        <a:t>1.7x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Arial"/>
                        </a:rPr>
                        <a:t>Jump (2 taken)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0E0E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0E0E0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0E0E0"/>
                          </a:solidFill>
                          <a:latin typeface="Arial"/>
                        </a:rPr>
                        <a:t>1.60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0E0E0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0E0E0"/>
                          </a:solidFill>
                          <a:latin typeface="Arial"/>
                        </a:rPr>
                        <a:t>1.25x</a:t>
                      </a:r>
                    </a:p>
                  </a:txBody>
                  <a:tcPr anchor="ctr" marL="91440" marR="91440">
                    <a:solidFill>
                      <a:srgbClr val="1E1E1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Arial"/>
                        </a:rPr>
                        <a:t>Long, no jump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0E0E0"/>
                          </a:solidFill>
                          <a:latin typeface="Arial"/>
                        </a:rPr>
                        <a:t>N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0E0E0"/>
                          </a:solidFill>
                          <a:latin typeface="Arial"/>
                        </a:rPr>
                        <a:t>N + 2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0E0E0"/>
                          </a:solidFill>
                          <a:latin typeface="Arial"/>
                        </a:rPr>
                        <a:t>→ 1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0E0E0"/>
                          </a:solidFill>
                          <a:latin typeface="Arial"/>
                        </a:rPr>
                        <a:t>2N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0E0E0"/>
                          </a:solidFill>
                          <a:latin typeface="Arial"/>
                        </a:rPr>
                        <a:t>→ 2x</a:t>
                      </a:r>
                    </a:p>
                  </a:txBody>
                  <a:tcPr anchor="ctr" marL="91440" marR="91440">
                    <a:solidFill>
                      <a:srgbClr val="18181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132320" y="1280160"/>
          <a:ext cx="448056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4572000"/>
            <a:ext cx="6309360" cy="155448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727448"/>
            <a:ext cx="5943600" cy="7772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>
                <a:solidFill>
                  <a:srgbClr val="D500F9"/>
                </a:solidFill>
                <a:latin typeface="Arial"/>
              </a:rPr>
              <a:t>N + 2 + 2J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504688"/>
            <a:ext cx="5943600" cy="4663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9E9E9E"/>
                </a:solidFill>
                <a:latin typeface="Arial"/>
              </a:rPr>
              <a:t>Formula: N non-jump instructions require N + 2 clocks; each taken jump adds 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54864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LIMITATIONS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91672" cy="18288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E9E9E"/>
                </a:solidFill>
                <a:latin typeface="Arial"/>
              </a:rPr>
              <a:t>Bui Huu Loi · SE196720 · 4-Bit RISC CPU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53796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00E5FF"/>
                </a:solidFill>
                <a:latin typeface="Arial"/>
              </a:rPr>
              <a:t>22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40680" cy="22860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73152" cy="2286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417319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Jump 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011680"/>
            <a:ext cx="50749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0E0E0"/>
                </a:solidFill>
                <a:latin typeface="Arial"/>
              </a:rPr>
              <a:t>Taken jumps cost 2 clocks because they are decided in EX.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0E0E0"/>
                </a:solidFill>
                <a:latin typeface="Arial"/>
              </a:rPr>
              <a:t>→ Resolve JMP in ID or use branch prediction.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280160"/>
            <a:ext cx="5440680" cy="22860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280160"/>
            <a:ext cx="73152" cy="2286000"/>
          </a:xfrm>
          <a:prstGeom prst="rect">
            <a:avLst/>
          </a:prstGeom>
          <a:solidFill>
            <a:srgbClr val="D50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417319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Size Limits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11680"/>
            <a:ext cx="50749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0E0E0"/>
                </a:solidFill>
                <a:latin typeface="Arial"/>
              </a:rPr>
              <a:t>Max 16 instructions and 16 data words.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0E0E0"/>
                </a:solidFill>
                <a:latin typeface="Arial"/>
              </a:rPr>
              <a:t>→ Expand bit fields, relative jumps, indirect LOAD/STORE via registers.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794760"/>
            <a:ext cx="5440680" cy="22860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794760"/>
            <a:ext cx="73152" cy="2286000"/>
          </a:xfrm>
          <a:prstGeom prst="rect">
            <a:avLst/>
          </a:prstGeom>
          <a:solidFill>
            <a:srgbClr val="FFE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3931920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Instruction 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4526280"/>
            <a:ext cx="50749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0E0E0"/>
                </a:solidFill>
                <a:latin typeface="Arial"/>
              </a:rPr>
              <a:t>Only one conditional jump; lacks overflow/negative flags, CALL/RET.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0E0E0"/>
                </a:solidFill>
                <a:latin typeface="Arial"/>
              </a:rPr>
              <a:t>→ Use reserved opcodes for JC, JNZ, shifts, HALT.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794760"/>
            <a:ext cx="5440680" cy="22860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3794760"/>
            <a:ext cx="73152" cy="2286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931920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Timing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526280"/>
            <a:ext cx="50749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0E0E0"/>
                </a:solidFill>
                <a:latin typeface="Arial"/>
              </a:rPr>
              <a:t>No constraints defined.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0E0E0"/>
                </a:solidFill>
                <a:latin typeface="Arial"/>
              </a:rPr>
              <a:t>→ Add XDC, measure max frequency and resource utilization.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54864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91672" cy="18288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E9E9E"/>
                </a:solidFill>
                <a:latin typeface="Arial"/>
              </a:rPr>
              <a:t>Bui Huu Loi · SE196720 · 4-Bit RISC CPU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53796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00E5FF"/>
                </a:solidFill>
                <a:latin typeface="Arial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0972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D500F9"/>
                </a:solidFill>
                <a:latin typeface="Arial"/>
              </a:rPr>
              <a:t>►  </a:t>
            </a:r>
            <a:r>
              <a:rPr sz="1700" b="0">
                <a:solidFill>
                  <a:srgbClr val="E0E0E0"/>
                </a:solidFill>
                <a:latin typeface="Arial"/>
              </a:rPr>
              <a:t>Successfully designed, implemented, and verified a 4-bit RISC CPU using Verilog HDL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D500F9"/>
                </a:solidFill>
                <a:latin typeface="Arial"/>
              </a:rPr>
              <a:t>►  </a:t>
            </a:r>
            <a:r>
              <a:rPr sz="1700" b="0">
                <a:solidFill>
                  <a:srgbClr val="E0E0E0"/>
                </a:solidFill>
                <a:latin typeface="Arial"/>
              </a:rPr>
              <a:t>Datapath: 4-bit ALU, 2-port register file, PC, IMEM 16×12, DMEM 16×4, 3 MUXes; hardwired control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D500F9"/>
                </a:solidFill>
                <a:latin typeface="Arial"/>
              </a:rPr>
              <a:t>►  </a:t>
            </a:r>
            <a:r>
              <a:rPr sz="1700" b="0">
                <a:solidFill>
                  <a:srgbClr val="E0E0E0"/>
                </a:solidFill>
                <a:latin typeface="Arial"/>
              </a:rPr>
              <a:t>3-stage pipeline IF/ID/EX: 1 instruction completes per clock when the pipeline is full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D500F9"/>
                </a:solidFill>
                <a:latin typeface="Arial"/>
              </a:rPr>
              <a:t>►  </a:t>
            </a:r>
            <a:r>
              <a:rPr sz="1700" b="0">
                <a:solidFill>
                  <a:srgbClr val="E0E0E0"/>
                </a:solidFill>
                <a:latin typeface="Arial"/>
              </a:rPr>
              <a:t>Data hazards avoided by reading registers in EX; control hazards handled by flushing 2 instructions after a taken jump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D500F9"/>
                </a:solidFill>
                <a:latin typeface="Arial"/>
              </a:rPr>
              <a:t>►  </a:t>
            </a:r>
            <a:r>
              <a:rPr sz="1700" b="0">
                <a:solidFill>
                  <a:srgbClr val="E0E0E0"/>
                </a:solidFill>
                <a:latin typeface="Arial"/>
              </a:rPr>
              <a:t>Testbench: 7 checks PASS, 0 errors in 326 ns; successful synthesis on xc7a35tcpg236-1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846320"/>
            <a:ext cx="2560320" cy="13716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983480"/>
            <a:ext cx="2194560" cy="6858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>
                <a:solidFill>
                  <a:srgbClr val="00E5FF"/>
                </a:solidFill>
                <a:latin typeface="Arial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669279"/>
            <a:ext cx="2194560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9E9E9E"/>
                </a:solidFill>
                <a:latin typeface="Arial"/>
              </a:rPr>
              <a:t>Instructions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4846320"/>
            <a:ext cx="2560320" cy="13716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4983480"/>
            <a:ext cx="2194560" cy="6858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>
                <a:solidFill>
                  <a:srgbClr val="D500F9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5669279"/>
            <a:ext cx="2194560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9E9E9E"/>
                </a:solidFill>
                <a:latin typeface="Arial"/>
              </a:rPr>
              <a:t>Pipeline stages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846320"/>
            <a:ext cx="2560320" cy="13716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983480"/>
            <a:ext cx="2194560" cy="6858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>
                <a:solidFill>
                  <a:srgbClr val="00E5FF"/>
                </a:solidFill>
                <a:latin typeface="Arial"/>
              </a:rPr>
              <a:t>7 /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669279"/>
            <a:ext cx="2194560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9E9E9E"/>
                </a:solidFill>
                <a:latin typeface="Arial"/>
              </a:rPr>
              <a:t>Checks PASS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4846320"/>
            <a:ext cx="2560320" cy="13716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4983480"/>
            <a:ext cx="2194560" cy="6858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>
                <a:solidFill>
                  <a:srgbClr val="D500F9"/>
                </a:solidFill>
                <a:latin typeface="Arial"/>
              </a:rPr>
              <a:t>326 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5669279"/>
            <a:ext cx="2194560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9E9E9E"/>
                </a:solidFill>
                <a:latin typeface="Arial"/>
              </a:rPr>
              <a:t>Sim time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89904" y="0"/>
            <a:ext cx="6099048" cy="6858000"/>
          </a:xfrm>
          <a:prstGeom prst="rect">
            <a:avLst/>
          </a:prstGeom>
          <a:solidFill>
            <a:srgbClr val="D50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4572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4572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>
                <a:solidFill>
                  <a:srgbClr val="00E5FF"/>
                </a:solidFill>
                <a:latin typeface="Arial"/>
              </a:rPr>
              <a:t>Any 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2743200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Arial"/>
              </a:rPr>
              <a:t>Bui Huu Loi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347472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ID: SE196720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41148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FPT University | IC Design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